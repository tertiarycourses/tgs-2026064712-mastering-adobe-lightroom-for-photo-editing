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2015367-Mastering-Adobe-Lightroom-for-Photo-Editin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995160"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28016"/>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30352"/>
            <a:ext cx="5715000" cy="292608"/>
          </a:xfrm>
          <a:prstGeom prst="rect">
            <a:avLst/>
          </a:prstGeom>
          <a:noFill/>
        </p:spPr>
        <p:txBody>
          <a:bodyPr wrap="square" lIns="54864" rIns="54864" tIns="54864" bIns="54864" anchor="t">
            <a:spAutoFit/>
          </a:bodyPr>
          <a:lstStyle/>
          <a:p>
            <a:pPr algn="l"/>
            <a:r>
              <a:rPr sz="1000" b="1" i="0">
                <a:solidFill>
                  <a:srgbClr val="008C95"/>
                </a:solidFill>
                <a:latin typeface="Arial"/>
              </a:rPr>
              <a:t>WSQ | DIGITAL IMAGE PRODUCTION</a:t>
            </a:r>
          </a:p>
        </p:txBody>
      </p:sp>
      <p:sp>
        <p:nvSpPr>
          <p:cNvPr id="7" name="TextBox 6"/>
          <p:cNvSpPr txBox="1"/>
          <p:nvPr/>
        </p:nvSpPr>
        <p:spPr>
          <a:xfrm>
            <a:off x="658368" y="1051560"/>
            <a:ext cx="5806440" cy="2057400"/>
          </a:xfrm>
          <a:prstGeom prst="rect">
            <a:avLst/>
          </a:prstGeom>
          <a:noFill/>
        </p:spPr>
        <p:txBody>
          <a:bodyPr wrap="square" lIns="54864" rIns="54864" tIns="54864" bIns="54864" anchor="t">
            <a:spAutoFit/>
          </a:bodyPr>
          <a:lstStyle/>
          <a:p>
            <a:pPr algn="l"/>
            <a:r>
              <a:rPr sz="3100" b="1" i="0">
                <a:solidFill>
                  <a:srgbClr val="0E2A47"/>
                </a:solidFill>
                <a:latin typeface="Arial"/>
              </a:rPr>
              <a:t>Mastering Adobe Lightroom for Photo Editing</a:t>
            </a:r>
          </a:p>
        </p:txBody>
      </p:sp>
      <p:sp>
        <p:nvSpPr>
          <p:cNvPr id="8" name="TextBox 7"/>
          <p:cNvSpPr txBox="1"/>
          <p:nvPr/>
        </p:nvSpPr>
        <p:spPr>
          <a:xfrm>
            <a:off x="694944" y="3319272"/>
            <a:ext cx="5257800" cy="640080"/>
          </a:xfrm>
          <a:prstGeom prst="rect">
            <a:avLst/>
          </a:prstGeom>
          <a:noFill/>
        </p:spPr>
        <p:txBody>
          <a:bodyPr wrap="square" lIns="54864" rIns="54864" tIns="54864" bIns="54864" anchor="t">
            <a:spAutoFit/>
          </a:bodyPr>
          <a:lstStyle/>
          <a:p>
            <a:pPr algn="l"/>
            <a:r>
              <a:rPr sz="1700" b="0" i="1">
                <a:solidFill>
                  <a:srgbClr val="5C6677"/>
                </a:solidFill>
                <a:latin typeface="Arial"/>
              </a:rPr>
              <a:t>From capture to delivery: make every pixel intentional, traceable, and fit for purpose.</a:t>
            </a:r>
          </a:p>
        </p:txBody>
      </p:sp>
      <p:sp>
        <p:nvSpPr>
          <p:cNvPr id="9" name="TextBox 8"/>
          <p:cNvSpPr txBox="1"/>
          <p:nvPr/>
        </p:nvSpPr>
        <p:spPr>
          <a:xfrm>
            <a:off x="694944" y="4261104"/>
            <a:ext cx="5303520" cy="731520"/>
          </a:xfrm>
          <a:prstGeom prst="rect">
            <a:avLst/>
          </a:prstGeom>
          <a:noFill/>
        </p:spPr>
        <p:txBody>
          <a:bodyPr wrap="square" lIns="54864" rIns="54864" tIns="54864" bIns="54864" anchor="t">
            <a:spAutoFit/>
          </a:bodyPr>
          <a:lstStyle/>
          <a:p>
            <a:pPr algn="l"/>
            <a:r>
              <a:rPr sz="1200" b="0" i="0">
                <a:solidFill>
                  <a:srgbClr val="131B2A"/>
                </a:solidFill>
                <a:latin typeface="Arial"/>
              </a:rPr>
              <a:t>Course Code: TGS-2022015367
Trainer: Dr. Alfred Ang
Version v12.0 | 19 August 2026</a:t>
            </a:r>
          </a:p>
        </p:txBody>
      </p:sp>
      <p:sp>
        <p:nvSpPr>
          <p:cNvPr id="10" name="TextBox 9"/>
          <p:cNvSpPr txBox="1"/>
          <p:nvPr/>
        </p:nvSpPr>
        <p:spPr>
          <a:xfrm>
            <a:off x="694944" y="5696712"/>
            <a:ext cx="5349240" cy="548640"/>
          </a:xfrm>
          <a:prstGeom prst="rect">
            <a:avLst/>
          </a:prstGeom>
          <a:noFill/>
        </p:spPr>
        <p:txBody>
          <a:bodyPr wrap="square" lIns="54864" rIns="54864" tIns="54864" bIns="54864" anchor="t">
            <a:spAutoFit/>
          </a:bodyPr>
          <a:lstStyle/>
          <a:p>
            <a:pPr algn="l"/>
            <a:r>
              <a:rPr sz="1000" b="1" i="0">
                <a:solidFill>
                  <a:srgbClr val="0E2A47"/>
                </a:solidFill>
                <a:latin typeface="Arial"/>
              </a:rPr>
              <a:t>Tertiary Infotech Academy Pte Ltd | UEN 201200696W</a:t>
            </a:r>
          </a:p>
        </p:txBody>
      </p:sp>
      <p:sp>
        <p:nvSpPr>
          <p:cNvPr id="11" name="TextBox 1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2" name="TextBox 1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a:t>
            </a:r>
          </a:p>
        </p:txBody>
      </p:sp>
    </p:spTree>
  </p:cSld>
  <p:clrMapOvr>
    <a:masterClrMapping/>
  </p:clrMapOvr>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008C95"/>
                </a:solidFill>
                <a:latin typeface="Arial"/>
              </a:rPr>
              <a:t>SECTION 00</a:t>
            </a:r>
          </a:p>
        </p:txBody>
      </p:sp>
      <p:sp>
        <p:nvSpPr>
          <p:cNvPr id="5" name="TextBox 4"/>
          <p:cNvSpPr txBox="1"/>
          <p:nvPr/>
        </p:nvSpPr>
        <p:spPr>
          <a:xfrm>
            <a:off x="658368" y="1325880"/>
            <a:ext cx="5486400" cy="1965960"/>
          </a:xfrm>
          <a:prstGeom prst="rect">
            <a:avLst/>
          </a:prstGeom>
          <a:noFill/>
        </p:spPr>
        <p:txBody>
          <a:bodyPr wrap="square" lIns="54864" rIns="54864" tIns="54864" bIns="54864" anchor="t">
            <a:spAutoFit/>
          </a:bodyPr>
          <a:lstStyle/>
          <a:p>
            <a:pPr algn="l"/>
            <a:r>
              <a:rPr sz="3400" b="1" i="0">
                <a:solidFill>
                  <a:srgbClr val="0E2A47"/>
                </a:solidFill>
                <a:latin typeface="Arial"/>
              </a:rPr>
              <a:t>Course Administration</a:t>
            </a:r>
          </a:p>
        </p:txBody>
      </p:sp>
      <p:sp>
        <p:nvSpPr>
          <p:cNvPr id="6" name="TextBox 5"/>
          <p:cNvSpPr txBox="1"/>
          <p:nvPr/>
        </p:nvSpPr>
        <p:spPr>
          <a:xfrm>
            <a:off x="685800" y="3675887"/>
            <a:ext cx="5166360" cy="960120"/>
          </a:xfrm>
          <a:prstGeom prst="rect">
            <a:avLst/>
          </a:prstGeom>
          <a:noFill/>
        </p:spPr>
        <p:txBody>
          <a:bodyPr wrap="square" lIns="54864" rIns="54864" tIns="54864" bIns="54864" anchor="t">
            <a:spAutoFit/>
          </a:bodyPr>
          <a:lstStyle/>
          <a:p>
            <a:pPr algn="l"/>
            <a:r>
              <a:rPr sz="1600" b="0" i="0">
                <a:solidFill>
                  <a:srgbClr val="5C6677"/>
                </a:solidFill>
                <a:latin typeface="Arial"/>
              </a:rPr>
              <a:t>Welcome | expectations | assessment | resources</a:t>
            </a:r>
          </a:p>
        </p:txBody>
      </p:sp>
      <p:sp>
        <p:nvSpPr>
          <p:cNvPr id="7" name="TextBox 6"/>
          <p:cNvSpPr txBox="1"/>
          <p:nvPr/>
        </p:nvSpPr>
        <p:spPr>
          <a:xfrm>
            <a:off x="685800" y="5175504"/>
            <a:ext cx="5212080" cy="640080"/>
          </a:xfrm>
          <a:prstGeom prst="rect">
            <a:avLst/>
          </a:prstGeom>
          <a:noFill/>
        </p:spPr>
        <p:txBody>
          <a:bodyPr wrap="square" lIns="54864" rIns="54864" tIns="54864" bIns="54864" anchor="t">
            <a:spAutoFit/>
          </a:bodyPr>
          <a:lstStyle/>
          <a:p>
            <a:pPr algn="l"/>
            <a:r>
              <a:rPr sz="1400" b="1" i="1">
                <a:solidFill>
                  <a:srgbClr val="008C95"/>
                </a:solidFill>
                <a:latin typeface="Arial"/>
              </a:rPr>
              <a:t>Observe the image. State the intent. Make a controlled change. Verify the result.</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a:t>
            </a:r>
          </a:p>
        </p:txBody>
      </p:sp>
    </p:spTree>
  </p:cSld>
  <p:clrMapOvr>
    <a:masterClrMapping/>
  </p:clrMapOvr>
  <p:transition spd="slow">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MANDATORY DIGITAL ATTENDANCE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Attendance | TRAQOM · SSG</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Scan and submit the morning attendance QR code.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PM</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Scan and submit the afternoon attendance QR code.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ASSESSMENT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Complete the separate assessment digital attendance.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75% MINIMUM</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Attendance and competent assessment outcome are funding requirements.</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a:t>
            </a:r>
          </a:p>
        </p:txBody>
      </p:sp>
    </p:spTree>
  </p:cSld>
  <p:clrMapOvr>
    <a:masterClrMapping/>
  </p:clrMapOvr>
  <p:transition spd="slow">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5C6677"/>
                </a:solidFill>
                <a:latin typeface="Arial"/>
              </a:rPr>
              <a:t>YOUR FACILITATOR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About the Trainer</a:t>
            </a:r>
          </a:p>
        </p:txBody>
      </p:sp>
      <p:sp>
        <p:nvSpPr>
          <p:cNvPr id="5" name="Rounded Rectangle 4"/>
          <p:cNvSpPr/>
          <p:nvPr/>
        </p:nvSpPr>
        <p:spPr>
          <a:xfrm>
            <a:off x="685800" y="1572768"/>
            <a:ext cx="3337560" cy="43891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1965960"/>
            <a:ext cx="1554480" cy="1554480"/>
          </a:xfrm>
          <a:prstGeom prst="ellipse">
            <a:avLst/>
          </a:prstGeom>
          <a:solidFill>
            <a:srgbClr val="5C6677"/>
          </a:solidFill>
          <a:ln>
            <a:solidFill>
              <a:srgbClr val="5C66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258568"/>
            <a:ext cx="1554480" cy="731520"/>
          </a:xfrm>
          <a:prstGeom prst="rect">
            <a:avLst/>
          </a:prstGeom>
          <a:noFill/>
        </p:spPr>
        <p:txBody>
          <a:bodyPr wrap="square" lIns="54864" rIns="54864" tIns="54864" bIns="54864" anchor="ctr">
            <a:spAutoFit/>
          </a:bodyPr>
          <a:lstStyle/>
          <a:p>
            <a:pPr algn="ctr"/>
            <a:r>
              <a:rPr sz="3800" b="1" i="0">
                <a:solidFill>
                  <a:srgbClr val="FFFFFF"/>
                </a:solidFill>
                <a:latin typeface="Arial"/>
              </a:rPr>
              <a:t>?</a:t>
            </a:r>
          </a:p>
        </p:txBody>
      </p:sp>
      <p:sp>
        <p:nvSpPr>
          <p:cNvPr id="8" name="TextBox 7"/>
          <p:cNvSpPr txBox="1"/>
          <p:nvPr/>
        </p:nvSpPr>
        <p:spPr>
          <a:xfrm>
            <a:off x="960120" y="3822191"/>
            <a:ext cx="2788920" cy="502920"/>
          </a:xfrm>
          <a:prstGeom prst="rect">
            <a:avLst/>
          </a:prstGeom>
          <a:noFill/>
        </p:spPr>
        <p:txBody>
          <a:bodyPr wrap="square" lIns="54864" rIns="54864" tIns="54864" bIns="54864" anchor="t">
            <a:spAutoFit/>
          </a:bodyPr>
          <a:lstStyle/>
          <a:p>
            <a:pPr algn="ctr"/>
            <a:r>
              <a:rPr sz="2000" b="1" i="0">
                <a:solidFill>
                  <a:srgbClr val="131B2A"/>
                </a:solidFill>
                <a:latin typeface="Arial"/>
              </a:rPr>
              <a:t>General Trainer</a:t>
            </a:r>
          </a:p>
        </p:txBody>
      </p:sp>
      <p:sp>
        <p:nvSpPr>
          <p:cNvPr id="9" name="TextBox 8"/>
          <p:cNvSpPr txBox="1"/>
          <p:nvPr/>
        </p:nvSpPr>
        <p:spPr>
          <a:xfrm>
            <a:off x="960120" y="4480560"/>
            <a:ext cx="2788920" cy="822960"/>
          </a:xfrm>
          <a:prstGeom prst="rect">
            <a:avLst/>
          </a:prstGeom>
          <a:noFill/>
        </p:spPr>
        <p:txBody>
          <a:bodyPr wrap="square" lIns="54864" rIns="54864" tIns="54864" bIns="54864" anchor="t">
            <a:spAutoFit/>
          </a:bodyPr>
          <a:lstStyle/>
          <a:p>
            <a:pPr algn="ctr"/>
            <a:r>
              <a:rPr sz="1250" b="0" i="0">
                <a:solidFill>
                  <a:srgbClr val="5C6677"/>
                </a:solidFill>
                <a:latin typeface="Arial"/>
              </a:rPr>
              <a:t>Trainer profile template</a:t>
            </a:r>
          </a:p>
        </p:txBody>
      </p:sp>
      <p:sp>
        <p:nvSpPr>
          <p:cNvPr id="10" name="Rounded Rectangle 9"/>
          <p:cNvSpPr/>
          <p:nvPr/>
        </p:nvSpPr>
        <p:spPr>
          <a:xfrm>
            <a:off x="4389120" y="157276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72768"/>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5152" y="1664208"/>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NAME</a:t>
            </a:r>
          </a:p>
        </p:txBody>
      </p:sp>
      <p:sp>
        <p:nvSpPr>
          <p:cNvPr id="13" name="TextBox 12"/>
          <p:cNvSpPr txBox="1"/>
          <p:nvPr/>
        </p:nvSpPr>
        <p:spPr>
          <a:xfrm>
            <a:off x="6537960" y="164592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14" name="Rounded Rectangle 13"/>
          <p:cNvSpPr/>
          <p:nvPr/>
        </p:nvSpPr>
        <p:spPr>
          <a:xfrm>
            <a:off x="4389120" y="2295144"/>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295144"/>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2386584"/>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TITLE / DESIGNATION</a:t>
            </a:r>
          </a:p>
        </p:txBody>
      </p:sp>
      <p:sp>
        <p:nvSpPr>
          <p:cNvPr id="17" name="TextBox 16"/>
          <p:cNvSpPr txBox="1"/>
          <p:nvPr/>
        </p:nvSpPr>
        <p:spPr>
          <a:xfrm>
            <a:off x="6537960" y="2368296"/>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18" name="Rounded Rectangle 17"/>
          <p:cNvSpPr/>
          <p:nvPr/>
        </p:nvSpPr>
        <p:spPr>
          <a:xfrm>
            <a:off x="4389120" y="3017520"/>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3017520"/>
            <a:ext cx="91440" cy="62179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3108960"/>
            <a:ext cx="1920240" cy="402336"/>
          </a:xfrm>
          <a:prstGeom prst="rect">
            <a:avLst/>
          </a:prstGeom>
          <a:noFill/>
        </p:spPr>
        <p:txBody>
          <a:bodyPr wrap="square" lIns="54864" rIns="54864" tIns="54864" bIns="54864" anchor="t">
            <a:spAutoFit/>
          </a:bodyPr>
          <a:lstStyle/>
          <a:p>
            <a:pPr algn="l"/>
            <a:r>
              <a:rPr sz="1000" b="1" i="0">
                <a:solidFill>
                  <a:srgbClr val="6F42C1"/>
                </a:solidFill>
                <a:latin typeface="Arial"/>
              </a:rPr>
              <a:t>QUALIFICATIONS</a:t>
            </a:r>
          </a:p>
        </p:txBody>
      </p:sp>
      <p:sp>
        <p:nvSpPr>
          <p:cNvPr id="21" name="TextBox 20"/>
          <p:cNvSpPr txBox="1"/>
          <p:nvPr/>
        </p:nvSpPr>
        <p:spPr>
          <a:xfrm>
            <a:off x="6537960" y="3090672"/>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22" name="Rounded Rectangle 21"/>
          <p:cNvSpPr/>
          <p:nvPr/>
        </p:nvSpPr>
        <p:spPr>
          <a:xfrm>
            <a:off x="4389120" y="3739896"/>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739896"/>
            <a:ext cx="91440" cy="6217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831336"/>
            <a:ext cx="1920240" cy="402336"/>
          </a:xfrm>
          <a:prstGeom prst="rect">
            <a:avLst/>
          </a:prstGeom>
          <a:noFill/>
        </p:spPr>
        <p:txBody>
          <a:bodyPr wrap="square" lIns="54864" rIns="54864" tIns="54864" bIns="54864" anchor="t">
            <a:spAutoFit/>
          </a:bodyPr>
          <a:lstStyle/>
          <a:p>
            <a:pPr algn="l"/>
            <a:r>
              <a:rPr sz="1000" b="1" i="0">
                <a:solidFill>
                  <a:srgbClr val="E68300"/>
                </a:solidFill>
                <a:latin typeface="Arial"/>
              </a:rPr>
              <a:t>AREAS OF EXPERTISE</a:t>
            </a:r>
          </a:p>
        </p:txBody>
      </p:sp>
      <p:sp>
        <p:nvSpPr>
          <p:cNvPr id="25" name="TextBox 24"/>
          <p:cNvSpPr txBox="1"/>
          <p:nvPr/>
        </p:nvSpPr>
        <p:spPr>
          <a:xfrm>
            <a:off x="6537960" y="3813048"/>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26" name="Rounded Rectangle 25"/>
          <p:cNvSpPr/>
          <p:nvPr/>
        </p:nvSpPr>
        <p:spPr>
          <a:xfrm>
            <a:off x="4389120" y="4462272"/>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462272"/>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553712"/>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TRAINING EXPERIENCE</a:t>
            </a:r>
          </a:p>
        </p:txBody>
      </p:sp>
      <p:sp>
        <p:nvSpPr>
          <p:cNvPr id="29" name="TextBox 28"/>
          <p:cNvSpPr txBox="1"/>
          <p:nvPr/>
        </p:nvSpPr>
        <p:spPr>
          <a:xfrm>
            <a:off x="6537960" y="4535424"/>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30" name="Rounded Rectangle 29"/>
          <p:cNvSpPr/>
          <p:nvPr/>
        </p:nvSpPr>
        <p:spPr>
          <a:xfrm>
            <a:off x="4389120" y="518464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9120" y="5184648"/>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5276088"/>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CONTACT</a:t>
            </a:r>
          </a:p>
        </p:txBody>
      </p:sp>
      <p:sp>
        <p:nvSpPr>
          <p:cNvPr id="33" name="TextBox 32"/>
          <p:cNvSpPr txBox="1"/>
          <p:nvPr/>
        </p:nvSpPr>
        <p:spPr>
          <a:xfrm>
            <a:off x="6537960" y="525780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a:t>
            </a:r>
          </a:p>
        </p:txBody>
      </p:sp>
    </p:spTree>
  </p:cSld>
  <p:clrMapOvr>
    <a:masterClrMapping/>
  </p:clrMapOvr>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YOUR FACILITATOR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About the Trainer</a:t>
            </a:r>
          </a:p>
        </p:txBody>
      </p:sp>
      <p:sp>
        <p:nvSpPr>
          <p:cNvPr id="5" name="Rounded Rectangle 4"/>
          <p:cNvSpPr/>
          <p:nvPr/>
        </p:nvSpPr>
        <p:spPr>
          <a:xfrm>
            <a:off x="685800" y="1572768"/>
            <a:ext cx="3337560" cy="43891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1965960"/>
            <a:ext cx="1554480" cy="1554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258568"/>
            <a:ext cx="1554480" cy="731520"/>
          </a:xfrm>
          <a:prstGeom prst="rect">
            <a:avLst/>
          </a:prstGeom>
          <a:noFill/>
        </p:spPr>
        <p:txBody>
          <a:bodyPr wrap="square" lIns="54864" rIns="54864" tIns="54864" bIns="54864" anchor="ctr">
            <a:spAutoFit/>
          </a:bodyPr>
          <a:lstStyle/>
          <a:p>
            <a:pPr algn="ctr"/>
            <a:r>
              <a:rPr sz="3800" b="1" i="0">
                <a:solidFill>
                  <a:srgbClr val="FFFFFF"/>
                </a:solidFill>
                <a:latin typeface="Arial"/>
              </a:rPr>
              <a:t>AA</a:t>
            </a:r>
          </a:p>
        </p:txBody>
      </p:sp>
      <p:sp>
        <p:nvSpPr>
          <p:cNvPr id="8" name="TextBox 7"/>
          <p:cNvSpPr txBox="1"/>
          <p:nvPr/>
        </p:nvSpPr>
        <p:spPr>
          <a:xfrm>
            <a:off x="960120" y="3822191"/>
            <a:ext cx="2788920" cy="502920"/>
          </a:xfrm>
          <a:prstGeom prst="rect">
            <a:avLst/>
          </a:prstGeom>
          <a:noFill/>
        </p:spPr>
        <p:txBody>
          <a:bodyPr wrap="square" lIns="54864" rIns="54864" tIns="54864" bIns="54864" anchor="t">
            <a:spAutoFit/>
          </a:bodyPr>
          <a:lstStyle/>
          <a:p>
            <a:pPr algn="ctr"/>
            <a:r>
              <a:rPr sz="2000" b="1" i="0">
                <a:solidFill>
                  <a:srgbClr val="131B2A"/>
                </a:solidFill>
                <a:latin typeface="Arial"/>
              </a:rPr>
              <a:t>Dr. Alfred Ang</a:t>
            </a:r>
          </a:p>
        </p:txBody>
      </p:sp>
      <p:sp>
        <p:nvSpPr>
          <p:cNvPr id="9" name="TextBox 8"/>
          <p:cNvSpPr txBox="1"/>
          <p:nvPr/>
        </p:nvSpPr>
        <p:spPr>
          <a:xfrm>
            <a:off x="960120" y="4480560"/>
            <a:ext cx="2788920" cy="822960"/>
          </a:xfrm>
          <a:prstGeom prst="rect">
            <a:avLst/>
          </a:prstGeom>
          <a:noFill/>
        </p:spPr>
        <p:txBody>
          <a:bodyPr wrap="square" lIns="54864" rIns="54864" tIns="54864" bIns="54864" anchor="t">
            <a:spAutoFit/>
          </a:bodyPr>
          <a:lstStyle/>
          <a:p>
            <a:pPr algn="ctr"/>
            <a:r>
              <a:rPr sz="1250" b="0" i="0">
                <a:solidFill>
                  <a:srgbClr val="5C6677"/>
                </a:solidFill>
                <a:latin typeface="Arial"/>
              </a:rPr>
              <a:t>Principal Trainer | Tertiary Infotech Academy</a:t>
            </a:r>
          </a:p>
        </p:txBody>
      </p:sp>
      <p:sp>
        <p:nvSpPr>
          <p:cNvPr id="10" name="Rounded Rectangle 9"/>
          <p:cNvSpPr/>
          <p:nvPr/>
        </p:nvSpPr>
        <p:spPr>
          <a:xfrm>
            <a:off x="4389120" y="157276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72768"/>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5152" y="1664208"/>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ROLE</a:t>
            </a:r>
          </a:p>
        </p:txBody>
      </p:sp>
      <p:sp>
        <p:nvSpPr>
          <p:cNvPr id="13" name="TextBox 12"/>
          <p:cNvSpPr txBox="1"/>
          <p:nvPr/>
        </p:nvSpPr>
        <p:spPr>
          <a:xfrm>
            <a:off x="6537960" y="164592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Principal Trainer and learning architect</a:t>
            </a:r>
          </a:p>
        </p:txBody>
      </p:sp>
      <p:sp>
        <p:nvSpPr>
          <p:cNvPr id="14" name="Rounded Rectangle 13"/>
          <p:cNvSpPr/>
          <p:nvPr/>
        </p:nvSpPr>
        <p:spPr>
          <a:xfrm>
            <a:off x="4389120" y="2295144"/>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295144"/>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2386584"/>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SPECIALISM</a:t>
            </a:r>
          </a:p>
        </p:txBody>
      </p:sp>
      <p:sp>
        <p:nvSpPr>
          <p:cNvPr id="17" name="TextBox 16"/>
          <p:cNvSpPr txBox="1"/>
          <p:nvPr/>
        </p:nvSpPr>
        <p:spPr>
          <a:xfrm>
            <a:off x="6537960" y="2368296"/>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Digital imaging, creative technology, AI and workflow design</a:t>
            </a:r>
          </a:p>
        </p:txBody>
      </p:sp>
      <p:sp>
        <p:nvSpPr>
          <p:cNvPr id="18" name="Rounded Rectangle 17"/>
          <p:cNvSpPr/>
          <p:nvPr/>
        </p:nvSpPr>
        <p:spPr>
          <a:xfrm>
            <a:off x="4389120" y="3017520"/>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3017520"/>
            <a:ext cx="91440" cy="62179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3108960"/>
            <a:ext cx="1920240" cy="402336"/>
          </a:xfrm>
          <a:prstGeom prst="rect">
            <a:avLst/>
          </a:prstGeom>
          <a:noFill/>
        </p:spPr>
        <p:txBody>
          <a:bodyPr wrap="square" lIns="54864" rIns="54864" tIns="54864" bIns="54864" anchor="t">
            <a:spAutoFit/>
          </a:bodyPr>
          <a:lstStyle/>
          <a:p>
            <a:pPr algn="l"/>
            <a:r>
              <a:rPr sz="1000" b="1" i="0">
                <a:solidFill>
                  <a:srgbClr val="6F42C1"/>
                </a:solidFill>
                <a:latin typeface="Arial"/>
              </a:rPr>
              <a:t>APPROACH</a:t>
            </a:r>
          </a:p>
        </p:txBody>
      </p:sp>
      <p:sp>
        <p:nvSpPr>
          <p:cNvPr id="21" name="TextBox 20"/>
          <p:cNvSpPr txBox="1"/>
          <p:nvPr/>
        </p:nvSpPr>
        <p:spPr>
          <a:xfrm>
            <a:off x="6537960" y="3090672"/>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Evidence-led, highly visual and production focused</a:t>
            </a:r>
          </a:p>
        </p:txBody>
      </p:sp>
      <p:sp>
        <p:nvSpPr>
          <p:cNvPr id="22" name="Rounded Rectangle 21"/>
          <p:cNvSpPr/>
          <p:nvPr/>
        </p:nvSpPr>
        <p:spPr>
          <a:xfrm>
            <a:off x="4389120" y="3739896"/>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739896"/>
            <a:ext cx="91440" cy="6217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831336"/>
            <a:ext cx="1920240" cy="402336"/>
          </a:xfrm>
          <a:prstGeom prst="rect">
            <a:avLst/>
          </a:prstGeom>
          <a:noFill/>
        </p:spPr>
        <p:txBody>
          <a:bodyPr wrap="square" lIns="54864" rIns="54864" tIns="54864" bIns="54864" anchor="t">
            <a:spAutoFit/>
          </a:bodyPr>
          <a:lstStyle/>
          <a:p>
            <a:pPr algn="l"/>
            <a:r>
              <a:rPr sz="1000" b="1" i="0">
                <a:solidFill>
                  <a:srgbClr val="E68300"/>
                </a:solidFill>
                <a:latin typeface="Arial"/>
              </a:rPr>
              <a:t>FACILITATION</a:t>
            </a:r>
          </a:p>
        </p:txBody>
      </p:sp>
      <p:sp>
        <p:nvSpPr>
          <p:cNvPr id="25" name="TextBox 24"/>
          <p:cNvSpPr txBox="1"/>
          <p:nvPr/>
        </p:nvSpPr>
        <p:spPr>
          <a:xfrm>
            <a:off x="6537960" y="3813048"/>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Demonstration, deliberate practice and stakeholder critique</a:t>
            </a:r>
          </a:p>
        </p:txBody>
      </p:sp>
      <p:sp>
        <p:nvSpPr>
          <p:cNvPr id="26" name="Rounded Rectangle 25"/>
          <p:cNvSpPr/>
          <p:nvPr/>
        </p:nvSpPr>
        <p:spPr>
          <a:xfrm>
            <a:off x="4389120" y="4462272"/>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462272"/>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553712"/>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ORGANISATION</a:t>
            </a:r>
          </a:p>
        </p:txBody>
      </p:sp>
      <p:sp>
        <p:nvSpPr>
          <p:cNvPr id="29" name="TextBox 28"/>
          <p:cNvSpPr txBox="1"/>
          <p:nvPr/>
        </p:nvSpPr>
        <p:spPr>
          <a:xfrm>
            <a:off x="6537960" y="4535424"/>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Tertiary Infotech Academy Pte Ltd</a:t>
            </a:r>
          </a:p>
        </p:txBody>
      </p:sp>
      <p:sp>
        <p:nvSpPr>
          <p:cNvPr id="30" name="Rounded Rectangle 29"/>
          <p:cNvSpPr/>
          <p:nvPr/>
        </p:nvSpPr>
        <p:spPr>
          <a:xfrm>
            <a:off x="4389120" y="518464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9120" y="5184648"/>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5276088"/>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CONTACT</a:t>
            </a:r>
          </a:p>
        </p:txBody>
      </p:sp>
      <p:sp>
        <p:nvSpPr>
          <p:cNvPr id="33" name="TextBox 32"/>
          <p:cNvSpPr txBox="1"/>
          <p:nvPr/>
        </p:nvSpPr>
        <p:spPr>
          <a:xfrm>
            <a:off x="6537960" y="525780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enquiry@tertiaryinfotech.com</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a:t>
            </a:r>
          </a:p>
        </p:txBody>
      </p:sp>
    </p:spTree>
  </p:cSld>
  <p:clrMapOvr>
    <a:masterClrMapping/>
  </p:clrMapOvr>
  <p:transition spd="slow">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LEARNER INTRODUCTION</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Let’s Know Each Other</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Your name and role</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The photographs you edit or want to edit</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Your current Lightroom experience</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One quality or workflow problem you want to solve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a:t>
            </a:r>
          </a:p>
        </p:txBody>
      </p:sp>
    </p:spTree>
  </p:cSld>
  <p:clrMapOvr>
    <a:masterClrMapping/>
  </p:clrMapOvr>
  <p:transition spd="slow">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HOW WE WILL WORK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Ground Rules</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PROTECT ORIGINALS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Work non-destructively and keep source files intact.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EDIT WITH INTENT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State the visual problem before moving a control.</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CHECK AT 100%</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Inspect edges, texture, artefacts, and masks.</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RESPECT RIGHTS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Use only approved images and protect personal metadata.</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a:t>
            </a:r>
          </a:p>
        </p:txBody>
      </p:sp>
    </p:spTree>
  </p:cSld>
  <p:clrMapOvr>
    <a:masterClrMapping/>
  </p:clrMapOvr>
  <p:transition spd="slow">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COURSE OUTLINE | 9:00 AM-6:00 PM</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One-Day Learning Journey</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Brief and ingest</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Organise and experiment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Evaluate and refine</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Review and deliver</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OQ then PP</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a:t>
            </a:r>
          </a:p>
        </p:txBody>
      </p:sp>
    </p:spTree>
  </p:cSld>
  <p:clrMapOvr>
    <a:masterClrMapping/>
  </p:clrMapOvr>
  <p:transition spd="slow">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WHAT YOU WILL BE ABLE TO DO</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Learning Outcomes</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LO1</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Explore ideas and techniques of digital imagery with stakeholders and improve production techniques through practice and experimentation.</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LO2</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Evaluate digital-imaging capabilities against theoretical contexts and principles of design.</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LO3</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Discuss and document the digital-image production process with others while applying intellectual-property considerations.</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PRODUCTION LENS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every edit to a brief, evidence, rights status, and output requirement.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a:t>
            </a:r>
          </a:p>
        </p:txBody>
      </p:sp>
    </p:spTree>
  </p:cSld>
  <p:clrMapOvr>
    <a:masterClrMapping/>
  </p:clrMapOvr>
  <p:transition spd="slow">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WSQ COMPETENCY MAP</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Skills Framework Alignment</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TSC</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Digital Image Production
RET-DNI-4003-1.1</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KNOWLEDGE</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K1-K6: techniques, tools, workspace, theory, design and IP</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ABILITIES</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A1-A4: consult, improve, evaluate and discuss production</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a:t>
            </a:r>
          </a:p>
        </p:txBody>
      </p:sp>
    </p:spTree>
  </p:cSld>
  <p:clrMapOvr>
    <a:masterClrMapping/>
  </p:clrMapOvr>
  <p:transition spd="slow">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6.5 TRAINING HOURS + 1.5 ASSESSMENT HOURS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Lesson Plan</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9:00 | foundations</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10:30 | organise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11:15 | edit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15:05 | advanced + delivery</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16:30 | OQ + PP</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a:t>
            </a:r>
          </a:p>
        </p:txBody>
      </p:sp>
    </p:spTree>
  </p:cSld>
  <p:clrMapOvr>
    <a:masterClrMapping/>
  </p:clrMapOvr>
  <p:transition spd="slow">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ASSESSMENT READINESS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Briefing for Assessment</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Individual, summative, open book; no discussion</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Use only approved course materials; phones and other materials under the table</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Oral Questioning: 30 minutes; Practical Performance: 60 minutes</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Submit required evidence on the LMS and sign the Assessment Summary Record</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a:t>
            </a:r>
          </a:p>
        </p:txBody>
      </p:sp>
    </p:spTree>
  </p:cSld>
  <p:clrMapOvr>
    <a:masterClrMapping/>
  </p:clrMapOvr>
  <p:transition spd="slow">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OPEN BOOK | INDIVIDUAL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and Funding</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OQ | 30 MIN</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Six open-ended questions covering K1-K6.</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PP | 60 MIN</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Three connected production tasks covering A1-A4.</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COMPETENCE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All required criteria competent; reassessment and appeal rights apply.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a:t>
            </a:r>
          </a:p>
        </p:txBody>
      </p:sp>
    </p:spTree>
  </p:cSld>
  <p:clrMapOvr>
    <a:masterClrMapping/>
  </p:clrMapOvr>
  <p:transition spd="slow">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ASSESSMENT PROCESS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Flow</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TRAQOM</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Assessment attendance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OQ then PP</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Submit on LMS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Sign summary record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a:t>
            </a:r>
          </a:p>
        </p:txBody>
      </p:sp>
    </p:spTree>
  </p:cSld>
  <p:clrMapOvr>
    <a:masterClrMapping/>
  </p:clrMapOvr>
  <p:transition spd="slow">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LEARNER RESOURCES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Access the Course Activities</a:t>
            </a:r>
          </a:p>
        </p:txBody>
      </p:sp>
      <p:sp>
        <p:nvSpPr>
          <p:cNvPr id="5" name="TextBox 4"/>
          <p:cNvSpPr txBox="1"/>
          <p:nvPr/>
        </p:nvSpPr>
        <p:spPr>
          <a:xfrm>
            <a:off x="713232" y="1508760"/>
            <a:ext cx="10652760" cy="457200"/>
          </a:xfrm>
          <a:prstGeom prst="rect">
            <a:avLst/>
          </a:prstGeom>
          <a:noFill/>
        </p:spPr>
        <p:txBody>
          <a:bodyPr wrap="square" lIns="54864" rIns="54864" tIns="54864" bIns="54864" anchor="t">
            <a:spAutoFit/>
          </a:bodyPr>
          <a:lstStyle/>
          <a:p>
            <a:pPr algn="l"/>
            <a:r>
              <a:rPr sz="1500" b="0" i="0">
                <a:solidFill>
                  <a:srgbClr val="131B2A"/>
                </a:solidFill>
                <a:latin typeface="Arial"/>
              </a:rPr>
              <a:t>Every activity has its own folder with source images, a realistic production scenario, detailed workflow, worksheet, and acceptance checklist in Markdown and PDF.</a:t>
            </a:r>
          </a:p>
        </p:txBody>
      </p:sp>
      <p:sp>
        <p:nvSpPr>
          <p:cNvPr id="6" name="Rounded Rectangle 5"/>
          <p:cNvSpPr/>
          <p:nvPr/>
        </p:nvSpPr>
        <p:spPr>
          <a:xfrm>
            <a:off x="749808" y="2331720"/>
            <a:ext cx="5120640" cy="21488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331720"/>
            <a:ext cx="5120640" cy="128016"/>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697480"/>
            <a:ext cx="4526280" cy="438912"/>
          </a:xfrm>
          <a:prstGeom prst="rect">
            <a:avLst/>
          </a:prstGeom>
          <a:noFill/>
        </p:spPr>
        <p:txBody>
          <a:bodyPr wrap="square" lIns="54864" rIns="54864" tIns="54864" bIns="54864" anchor="t">
            <a:spAutoFit/>
          </a:bodyPr>
          <a:lstStyle/>
          <a:p>
            <a:pPr algn="l"/>
            <a:r>
              <a:rPr sz="1400" b="1" i="0">
                <a:solidFill>
                  <a:srgbClr val="008C95"/>
                </a:solidFill>
                <a:latin typeface="Arial"/>
              </a:rPr>
              <a:t>OPTION A | CLONE</a:t>
            </a:r>
          </a:p>
        </p:txBody>
      </p:sp>
      <p:sp>
        <p:nvSpPr>
          <p:cNvPr id="9" name="TextBox 8"/>
          <p:cNvSpPr txBox="1"/>
          <p:nvPr/>
        </p:nvSpPr>
        <p:spPr>
          <a:xfrm>
            <a:off x="1042416" y="3429000"/>
            <a:ext cx="4526280" cy="685800"/>
          </a:xfrm>
          <a:prstGeom prst="rect">
            <a:avLst/>
          </a:prstGeom>
          <a:noFill/>
        </p:spPr>
        <p:txBody>
          <a:bodyPr wrap="square" lIns="54864" rIns="54864" tIns="54864" bIns="54864" anchor="t">
            <a:spAutoFit/>
          </a:bodyPr>
          <a:lstStyle/>
          <a:p>
            <a:pPr algn="l"/>
            <a:r>
              <a:rPr sz="1300" b="0" i="0">
                <a:solidFill>
                  <a:srgbClr val="131B2A"/>
                </a:solidFill>
                <a:latin typeface="Consolas"/>
              </a:rPr>
              <a:t>git clone https://github.com/tertiarycourses/TGS-2022015367-Mastering-Adobe-Lightroom-for-Photo-Editing.git</a:t>
            </a:r>
          </a:p>
        </p:txBody>
      </p:sp>
      <p:sp>
        <p:nvSpPr>
          <p:cNvPr id="10" name="Rounded Rectangle 9"/>
          <p:cNvSpPr/>
          <p:nvPr/>
        </p:nvSpPr>
        <p:spPr>
          <a:xfrm>
            <a:off x="6281928" y="2331720"/>
            <a:ext cx="5120640" cy="21488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5120640" cy="128016"/>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4536" y="2697480"/>
            <a:ext cx="4526280" cy="438912"/>
          </a:xfrm>
          <a:prstGeom prst="rect">
            <a:avLst/>
          </a:prstGeom>
          <a:noFill/>
        </p:spPr>
        <p:txBody>
          <a:bodyPr wrap="square" lIns="54864" rIns="54864" tIns="54864" bIns="54864" anchor="t">
            <a:spAutoFit/>
          </a:bodyPr>
          <a:lstStyle/>
          <a:p>
            <a:pPr algn="l"/>
            <a:r>
              <a:rPr sz="1400" b="1" i="0">
                <a:solidFill>
                  <a:srgbClr val="6F42C1"/>
                </a:solidFill>
                <a:latin typeface="Arial"/>
              </a:rPr>
              <a:t>OPTION B | DOWNLOAD</a:t>
            </a:r>
          </a:p>
        </p:txBody>
      </p:sp>
      <p:sp>
        <p:nvSpPr>
          <p:cNvPr id="13" name="TextBox 12"/>
          <p:cNvSpPr txBox="1"/>
          <p:nvPr/>
        </p:nvSpPr>
        <p:spPr>
          <a:xfrm>
            <a:off x="6574536" y="3429000"/>
            <a:ext cx="4526280" cy="685800"/>
          </a:xfrm>
          <a:prstGeom prst="rect">
            <a:avLst/>
          </a:prstGeom>
          <a:noFill/>
        </p:spPr>
        <p:txBody>
          <a:bodyPr wrap="square" lIns="54864" rIns="54864" tIns="54864" bIns="54864" anchor="t">
            <a:spAutoFit/>
          </a:bodyPr>
          <a:lstStyle/>
          <a:p>
            <a:pPr algn="l"/>
            <a:r>
              <a:rPr sz="1300" b="0" i="0">
                <a:solidFill>
                  <a:srgbClr val="131B2A"/>
                </a:solidFill>
                <a:latin typeface="Arial"/>
              </a:rPr>
              <a:t>Open GitHub &gt; Code &gt; Download ZIP</a:t>
            </a:r>
          </a:p>
        </p:txBody>
      </p:sp>
      <p:sp>
        <p:nvSpPr>
          <p:cNvPr id="14" name="TextBox 13">
            <a:hlinkClick r:id="rId2"/>
          </p:cNvPr>
          <p:cNvSpPr txBox="1"/>
          <p:nvPr/>
        </p:nvSpPr>
        <p:spPr>
          <a:xfrm>
            <a:off x="749808" y="4983480"/>
            <a:ext cx="10515600" cy="594360"/>
          </a:xfrm>
          <a:prstGeom prst="rect">
            <a:avLst/>
          </a:prstGeom>
          <a:noFill/>
        </p:spPr>
        <p:txBody>
          <a:bodyPr wrap="square" lIns="54864" rIns="54864" tIns="54864" bIns="54864" anchor="t">
            <a:spAutoFit/>
          </a:bodyPr>
          <a:lstStyle/>
          <a:p>
            <a:pPr algn="ctr"/>
            <a:r>
              <a:rPr sz="1200" b="1" i="0">
                <a:solidFill>
                  <a:srgbClr val="1F6FEB"/>
                </a:solidFill>
                <a:latin typeface="Arial"/>
              </a:rPr>
              <a:t>https://github.com/tertiarycourses/TGS-2022015367-Mastering-Adobe-Lightroom-for-Photo-Editing</a:t>
            </a:r>
          </a:p>
        </p:txBody>
      </p:sp>
      <p:sp>
        <p:nvSpPr>
          <p:cNvPr id="15" name="TextBox 14"/>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6" name="TextBox 15"/>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15</a:t>
            </a:r>
          </a:p>
        </p:txBody>
      </p:sp>
    </p:spTree>
  </p:cSld>
  <p:clrMapOvr>
    <a:masterClrMapping/>
  </p:clrMapOvr>
  <p:transition spd="slow">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pic-1-workflow.jpg"/>
          <p:cNvPicPr>
            <a:picLocks noChangeAspect="1"/>
          </p:cNvPicPr>
          <p:nvPr/>
        </p:nvPicPr>
        <p:blipFill>
          <a:blip r:embed="rId2"/>
          <a:srcRect l="18167" r="18167"/>
          <a:stretch>
            <a:fillRect/>
          </a:stretch>
        </p:blipFill>
        <p:spPr>
          <a:xfrm>
            <a:off x="6583680" y="411480"/>
            <a:ext cx="5257800" cy="5897880"/>
          </a:xfrm>
          <a:prstGeom prst="rect">
            <a:avLst/>
          </a:prstGeom>
        </p:spPr>
      </p:pic>
      <p:sp>
        <p:nvSpPr>
          <p:cNvPr id="4" name="Rectangle 3"/>
          <p:cNvSpPr/>
          <p:nvPr/>
        </p:nvSpPr>
        <p:spPr>
          <a:xfrm>
            <a:off x="5989320" y="411480"/>
            <a:ext cx="1280160"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008C95"/>
                </a:solidFill>
                <a:latin typeface="Arial"/>
              </a:rPr>
              <a:t>SECTION 01</a:t>
            </a:r>
          </a:p>
        </p:txBody>
      </p:sp>
      <p:sp>
        <p:nvSpPr>
          <p:cNvPr id="7" name="TextBox 6"/>
          <p:cNvSpPr txBox="1"/>
          <p:nvPr/>
        </p:nvSpPr>
        <p:spPr>
          <a:xfrm>
            <a:off x="658368" y="1325880"/>
            <a:ext cx="5486400" cy="1965960"/>
          </a:xfrm>
          <a:prstGeom prst="rect">
            <a:avLst/>
          </a:prstGeom>
          <a:noFill/>
        </p:spPr>
        <p:txBody>
          <a:bodyPr wrap="square" lIns="54864" rIns="54864" tIns="54864" bIns="54864" anchor="t">
            <a:spAutoFit/>
          </a:bodyPr>
          <a:lstStyle/>
          <a:p>
            <a:pPr algn="l"/>
            <a:r>
              <a:rPr sz="3400" b="1" i="0">
                <a:solidFill>
                  <a:srgbClr val="0E2A47"/>
                </a:solidFill>
                <a:latin typeface="Arial"/>
              </a:rPr>
              <a:t>Get Started on Digital Imagery Techniques Using Lightroom</a:t>
            </a:r>
          </a:p>
        </p:txBody>
      </p:sp>
      <p:sp>
        <p:nvSpPr>
          <p:cNvPr id="8" name="TextBox 7"/>
          <p:cNvSpPr txBox="1"/>
          <p:nvPr/>
        </p:nvSpPr>
        <p:spPr>
          <a:xfrm>
            <a:off x="685800" y="3675887"/>
            <a:ext cx="5166360" cy="960120"/>
          </a:xfrm>
          <a:prstGeom prst="rect">
            <a:avLst/>
          </a:prstGeom>
          <a:noFill/>
        </p:spPr>
        <p:txBody>
          <a:bodyPr wrap="square" lIns="54864" rIns="54864" tIns="54864" bIns="54864" anchor="t">
            <a:spAutoFit/>
          </a:bodyPr>
          <a:lstStyle/>
          <a:p>
            <a:pPr algn="l"/>
            <a:r>
              <a:rPr sz="1600" b="0" i="0">
                <a:solidFill>
                  <a:srgbClr val="5C6677"/>
                </a:solidFill>
                <a:latin typeface="Arial"/>
              </a:rPr>
              <a:t>ecosystem | workspace | brief | ingest | cull | organise | experiment | K1, K2, K3, A1, A2</a:t>
            </a:r>
          </a:p>
        </p:txBody>
      </p:sp>
      <p:sp>
        <p:nvSpPr>
          <p:cNvPr id="9" name="TextBox 8"/>
          <p:cNvSpPr txBox="1"/>
          <p:nvPr/>
        </p:nvSpPr>
        <p:spPr>
          <a:xfrm>
            <a:off x="685800" y="5175504"/>
            <a:ext cx="5212080" cy="640080"/>
          </a:xfrm>
          <a:prstGeom prst="rect">
            <a:avLst/>
          </a:prstGeom>
          <a:noFill/>
        </p:spPr>
        <p:txBody>
          <a:bodyPr wrap="square" lIns="54864" rIns="54864" tIns="54864" bIns="54864" anchor="t">
            <a:spAutoFit/>
          </a:bodyPr>
          <a:lstStyle/>
          <a:p>
            <a:pPr algn="l"/>
            <a:r>
              <a:rPr sz="1400" b="1" i="1">
                <a:solidFill>
                  <a:srgbClr val="008C95"/>
                </a:solidFill>
                <a:latin typeface="Arial"/>
              </a:rPr>
              <a:t>Observe the image. State the intent. Make a controlled change. Verify the result.</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16</a:t>
            </a:r>
          </a:p>
        </p:txBody>
      </p:sp>
    </p:spTree>
  </p:cSld>
  <p:clrMapOvr>
    <a:masterClrMapping/>
  </p:clrMapOvr>
  <p:transition spd="slow">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Lightroom Is a Non-Destructive Production System</a:t>
            </a:r>
          </a:p>
        </p:txBody>
      </p:sp>
      <p:pic>
        <p:nvPicPr>
          <p:cNvPr id="5" name="Picture 4" descr="image21.png"/>
          <p:cNvPicPr>
            <a:picLocks noChangeAspect="1"/>
          </p:cNvPicPr>
          <p:nvPr/>
        </p:nvPicPr>
        <p:blipFill>
          <a:blip r:embed="rId2"/>
          <a:srcRect l="14588" r="14588"/>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Treat every edit as a reversible decision, not a one-way alteration.</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Original pixels remain intact</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Edits are stored as instructions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Versions support safe experimentation</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Exports create delivery copies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17</a:t>
            </a:r>
          </a:p>
        </p:txBody>
      </p:sp>
    </p:spTree>
  </p:cSld>
  <p:clrMapOvr>
    <a:masterClrMapping/>
  </p:clrMapOvr>
  <p:transition spd="slow">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Lightroom Is a Non-Destructive Production System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Original pixels remain intact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Edits are stored as instructions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Versions support safe experimentation</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Exports create delivery copies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18</a:t>
            </a:r>
          </a:p>
        </p:txBody>
      </p:sp>
    </p:spTree>
  </p:cSld>
  <p:clrMapOvr>
    <a:masterClrMapping/>
  </p:clrMapOvr>
  <p:transition spd="slow">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Lightroom Is a Non-Destructive Production System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editing the only copy.</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Preserve the original, compare versions, and export derivatives.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19</a:t>
            </a:r>
          </a:p>
        </p:txBody>
      </p:sp>
    </p:spTree>
  </p:cSld>
  <p:clrMapOvr>
    <a:masterClrMapping/>
  </p:clrMapOvr>
  <p:transition spd="slow">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Choose the Right Lightroom</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2.jpg"/>
          <p:cNvPicPr>
            <a:picLocks noChangeAspect="1"/>
          </p:cNvPicPr>
          <p:nvPr/>
        </p:nvPicPr>
        <p:blipFill>
          <a:blip r:embed="rId2"/>
          <a:stretch>
            <a:fillRect/>
          </a:stretch>
        </p:blipFill>
        <p:spPr>
          <a:xfrm>
            <a:off x="6720840" y="1826514"/>
            <a:ext cx="5468112" cy="4101084"/>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right tool is the one whose storage and collaboration model matches the job.</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Lightroom: cloud-first consistency</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Lightroom Classic: local catalog control</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Web and mobile: review and capture</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Photoshop: pixel-level compositing</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20</a:t>
            </a:r>
          </a:p>
        </p:txBody>
      </p:sp>
    </p:spTree>
  </p:cSld>
  <p:clrMapOvr>
    <a:masterClrMapping/>
  </p:clrMapOvr>
  <p:transition spd="slow">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Choose the Right Lightroom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Lightroom: cloud-first consistency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Lightroom Classic: local catalog control</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Web and mobile: review and capture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Photoshop: pixel-level compositing</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21</a:t>
            </a:r>
          </a:p>
        </p:txBody>
      </p:sp>
    </p:spTree>
  </p:cSld>
  <p:clrMapOvr>
    <a:masterClrMapping/>
  </p:clrMapOvr>
  <p:transition spd="slow">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Choose the Right Lightroom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22</a:t>
            </a:r>
          </a:p>
        </p:txBody>
      </p:sp>
    </p:spTree>
  </p:cSld>
  <p:clrMapOvr>
    <a:masterClrMapping/>
  </p:clrMapOvr>
  <p:transition spd="slow">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Colour-Aware Workspace</a:t>
            </a:r>
          </a:p>
        </p:txBody>
      </p:sp>
      <p:pic>
        <p:nvPicPr>
          <p:cNvPr id="5" name="Picture 4" descr="image21.png"/>
          <p:cNvPicPr>
            <a:picLocks noChangeAspect="1"/>
          </p:cNvPicPr>
          <p:nvPr/>
        </p:nvPicPr>
        <p:blipFill>
          <a:blip r:embed="rId2"/>
          <a:srcRect l="14588" r="14588"/>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trustworthy edit begins with a trustworthy viewing environment.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Calibrated display and neutral light</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Fast storage with reliable backup</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Enough memory and GPU headroom</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Consistent viewing conditions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23</a:t>
            </a:r>
          </a:p>
        </p:txBody>
      </p:sp>
    </p:spTree>
  </p:cSld>
  <p:clrMapOvr>
    <a:masterClrMapping/>
  </p:clrMapOvr>
  <p:transition spd="slow">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Build a Colour-Aware Workspace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Calibrated display and neutral light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Fast storage with reliable backup</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Enough memory and GPU headroom</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Consistent viewing conditions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24</a:t>
            </a:r>
          </a:p>
        </p:txBody>
      </p:sp>
    </p:spTree>
  </p:cSld>
  <p:clrMapOvr>
    <a:masterClrMapping/>
  </p:clrMapOvr>
  <p:transition spd="slow">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Colour-Aware Workspace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editing under coloured light.</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Control the room, display, storage, and backup before judging colour.</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25</a:t>
            </a:r>
          </a:p>
        </p:txBody>
      </p:sp>
    </p:spTree>
  </p:cSld>
  <p:clrMapOvr>
    <a:masterClrMapping/>
  </p:clrMapOvr>
  <p:transition spd="slow">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Start with a Stakeholder Creative Brief</a:t>
            </a:r>
          </a:p>
        </p:txBody>
      </p:sp>
      <p:pic>
        <p:nvPicPr>
          <p:cNvPr id="5" name="Picture 4" descr="image24.jpg"/>
          <p:cNvPicPr>
            <a:picLocks noChangeAspect="1"/>
          </p:cNvPicPr>
          <p:nvPr/>
        </p:nvPicPr>
        <p:blipFill>
          <a:blip r:embed="rId2"/>
          <a:srcRect l="17649" r="1764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beautiful image can still fail if it solves the wrong brief.</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Audience and use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Required mood and message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Non-negotiable brand constraints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Approval criteria and deadline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26</a:t>
            </a:r>
          </a:p>
        </p:txBody>
      </p:sp>
    </p:spTree>
  </p:cSld>
  <p:clrMapOvr>
    <a:masterClrMapping/>
  </p:clrMapOvr>
  <p:transition spd="slow">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Start with a Stakeholder Creative Brief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Audience and use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Required mood and message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Non-negotiable brand constraints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Approval criteria and deadline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27</a:t>
            </a:r>
          </a:p>
        </p:txBody>
      </p:sp>
    </p:spTree>
  </p:cSld>
  <p:clrMapOvr>
    <a:masterClrMapping/>
  </p:clrMapOvr>
  <p:transition spd="slow">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Start with a Stakeholder Creative Brief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28</a:t>
            </a:r>
          </a:p>
        </p:txBody>
      </p:sp>
    </p:spTree>
  </p:cSld>
  <p:clrMapOvr>
    <a:masterClrMapping/>
  </p:clrMapOvr>
  <p:transition spd="slow">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Image Materials and File Decisions</a:t>
            </a:r>
          </a:p>
        </p:txBody>
      </p:sp>
      <p:pic>
        <p:nvPicPr>
          <p:cNvPr id="5" name="Picture 4" descr="image33.png"/>
          <p:cNvPicPr>
            <a:picLocks noChangeAspect="1"/>
          </p:cNvPicPr>
          <p:nvPr/>
        </p:nvPicPr>
        <p:blipFill>
          <a:blip r:embed="rId2"/>
          <a:srcRect l="9353" r="9353"/>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File format is a production choice: latitude, compatibility, size, and provenance trade places.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RAW retains editing latitude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JPEG is compact and processed</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HEIF/WebP balance size and quality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DNG can support archival workflows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29</a:t>
            </a:r>
          </a:p>
        </p:txBody>
      </p:sp>
    </p:spTree>
  </p:cSld>
  <p:clrMapOvr>
    <a:masterClrMapping/>
  </p:clrMapOvr>
  <p:transition spd="slow">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Image Materials and File Decisions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RAW retains editing latitude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JPEG is compact and processed</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HEIF/WebP balance size and quality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DNG can support archival workflows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30</a:t>
            </a:r>
          </a:p>
        </p:txBody>
      </p:sp>
    </p:spTree>
  </p:cSld>
  <p:clrMapOvr>
    <a:masterClrMapping/>
  </p:clrMapOvr>
  <p:transition spd="slow">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Image Materials and File Decisions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assuming every file behaves like RAW.</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Inspect capture format and destination before choosing the workflow.</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31</a:t>
            </a:r>
          </a:p>
        </p:txBody>
      </p:sp>
    </p:spTree>
  </p:cSld>
  <p:clrMapOvr>
    <a:masterClrMapping/>
  </p:clrMapOvr>
  <p:transition spd="slow">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Ingest Without Losing Control</a:t>
            </a:r>
          </a:p>
        </p:txBody>
      </p:sp>
      <p:pic>
        <p:nvPicPr>
          <p:cNvPr id="5" name="Picture 4" descr="image25.png"/>
          <p:cNvPicPr>
            <a:picLocks noChangeAspect="1"/>
          </p:cNvPicPr>
          <p:nvPr/>
        </p:nvPicPr>
        <p:blipFill>
          <a:blip r:embed="rId2"/>
          <a:srcRect l="14114" r="14114"/>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Import is where asset control begins—not an administrative afterthought.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Verify source and destination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Avoid duplicate imports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Name the project and album</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Confirm backup and sync state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32</a:t>
            </a:r>
          </a:p>
        </p:txBody>
      </p:sp>
    </p:spTree>
  </p:cSld>
  <p:clrMapOvr>
    <a:masterClrMapping/>
  </p:clrMapOvr>
  <p:transition spd="slow">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Ingest Without Losing Control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Verify source and destination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Avoid duplicate imports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Name the project and album</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Confirm backup and sync state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33</a:t>
            </a:r>
          </a:p>
        </p:txBody>
      </p:sp>
    </p:spTree>
  </p:cSld>
  <p:clrMapOvr>
    <a:masterClrMapping/>
  </p:clrMapOvr>
  <p:transition spd="slow">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Ingest Without Losing Control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34</a:t>
            </a:r>
          </a:p>
        </p:txBody>
      </p:sp>
    </p:spTree>
  </p:cSld>
  <p:clrMapOvr>
    <a:masterClrMapping/>
  </p:clrMapOvr>
  <p:transition spd="slow">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Cull for Story, Quality, and Risk</a:t>
            </a:r>
          </a:p>
        </p:txBody>
      </p:sp>
      <p:pic>
        <p:nvPicPr>
          <p:cNvPr id="5" name="Picture 4" descr="image82.png"/>
          <p:cNvPicPr>
            <a:picLocks noChangeAspect="1"/>
          </p:cNvPicPr>
          <p:nvPr/>
        </p:nvPicPr>
        <p:blipFill>
          <a:blip r:embed="rId2"/>
          <a:srcRect l="1323" r="1323"/>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strongest edit cannot rescue the wrong frame.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Technical quality</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Expression and decisive moment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Visual variety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Rights and stakeholder fit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35</a:t>
            </a:r>
          </a:p>
        </p:txBody>
      </p:sp>
    </p:spTree>
  </p:cSld>
  <p:clrMapOvr>
    <a:masterClrMapping/>
  </p:clrMapOvr>
  <p:transition spd="slow">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Cull for Story, Quality, and Risk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Technical quality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Expression and decisive moment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Visual variety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Rights and stakeholder fit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36</a:t>
            </a:r>
          </a:p>
        </p:txBody>
      </p:sp>
    </p:spTree>
  </p:cSld>
  <p:clrMapOvr>
    <a:masterClrMapping/>
  </p:clrMapOvr>
  <p:transition spd="slow">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Cull for Story, Quality, and Risk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rating only sharpness.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Select against the brief, narrative value, technical quality, and usage rights.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37</a:t>
            </a:r>
          </a:p>
        </p:txBody>
      </p:sp>
    </p:spTree>
  </p:cSld>
  <p:clrMapOvr>
    <a:masterClrMapping/>
  </p:clrMapOvr>
  <p:transition spd="slow">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Organise for Retrieval</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30.png"/>
          <p:cNvPicPr>
            <a:picLocks noChangeAspect="1"/>
          </p:cNvPicPr>
          <p:nvPr/>
        </p:nvPicPr>
        <p:blipFill>
          <a:blip r:embed="rId2"/>
          <a:stretch>
            <a:fillRect/>
          </a:stretch>
        </p:blipFill>
        <p:spPr>
          <a:xfrm>
            <a:off x="6720840" y="2486929"/>
            <a:ext cx="5468111" cy="2780253"/>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An image library creates value only when the right asset can be found again.</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Albums and folders</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Flags, stars, and colour labels</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Keywords and metadata</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Natural-language and facet search</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38</a:t>
            </a:r>
          </a:p>
        </p:txBody>
      </p:sp>
    </p:spTree>
  </p:cSld>
  <p:clrMapOvr>
    <a:masterClrMapping/>
  </p:clrMapOvr>
  <p:transition spd="slow">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Organise for Retrieval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Albums and folders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Flags, stars, and colour labels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Keywords and metadata</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Natural-language and facet search</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39</a:t>
            </a:r>
          </a:p>
        </p:txBody>
      </p:sp>
    </p:spTree>
  </p:cSld>
  <p:clrMapOvr>
    <a:masterClrMapping/>
  </p:clrMapOvr>
  <p:transition spd="slow">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Organise for Retrieval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40</a:t>
            </a:r>
          </a:p>
        </p:txBody>
      </p:sp>
    </p:spTree>
  </p:cSld>
  <p:clrMapOvr>
    <a:masterClrMapping/>
  </p:clrMapOvr>
  <p:transition spd="slow">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Experiment with Versions and Comparisons</a:t>
            </a:r>
          </a:p>
        </p:txBody>
      </p:sp>
      <p:pic>
        <p:nvPicPr>
          <p:cNvPr id="5" name="Picture 4" descr="image82.png"/>
          <p:cNvPicPr>
            <a:picLocks noChangeAspect="1"/>
          </p:cNvPicPr>
          <p:nvPr/>
        </p:nvPicPr>
        <p:blipFill>
          <a:blip r:embed="rId2"/>
          <a:srcRect l="1323" r="1323"/>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Controlled comparison turns taste into a learnable editing method.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Create alternate versions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Change one variable at a time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Use before/after evidence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Record stakeholder decisions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41</a:t>
            </a:r>
          </a:p>
        </p:txBody>
      </p:sp>
    </p:spTree>
  </p:cSld>
  <p:clrMapOvr>
    <a:masterClrMapping/>
  </p:clrMapOvr>
  <p:transition spd="slow">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Experiment with Versions and Comparisons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Create alternate versions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Change one variable at a time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Use before/after evidence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Record stakeholder decisions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42</a:t>
            </a:r>
          </a:p>
        </p:txBody>
      </p:sp>
    </p:spTree>
  </p:cSld>
  <p:clrMapOvr>
    <a:masterClrMapping/>
  </p:clrMapOvr>
  <p:transition spd="slow">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Experiment with Versions and Comparisons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random slider wandering.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Set a hypothesis, make one purposeful change, compare, and record.</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43</a:t>
            </a:r>
          </a:p>
        </p:txBody>
      </p:sp>
    </p:spTree>
  </p:cSld>
  <p:clrMapOvr>
    <a:masterClrMapping/>
  </p:clrMapOvr>
  <p:transition spd="slow">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6F42C1"/>
                </a:solidFill>
                <a:latin typeface="Arial"/>
              </a:rPr>
              <a:t>MASTER EDITOR PRINCIPLE</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“Treat every edit as a reversible decision, not a one-way alteration.”</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topic's decision rule, then prove it through the activity evidence.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6F42C1"/>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44</a:t>
            </a:r>
          </a:p>
        </p:txBody>
      </p:sp>
    </p:spTree>
  </p:cSld>
  <p:clrMapOvr>
    <a:masterClrMapping/>
  </p:clrMapOvr>
  <p:transition spd="slow">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01 | Stakeholder Brief and Colour-Safe Workspace</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K2, K3, A1, A2</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BrightFrame Studio has been hired by a Singapore wellness brand to prepare a calm, premium hero photograph for a mobile campaign. The brand manager wants natural skin and product colour; the photographer wants a warmer editorial mood; the campaign lead needs a 4:5 crop by 4 pm. The studio monitor has not been checked recently and mixed office lighting affects colour judgement.</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Photo editor, Brand manager, Photographer.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creative-brief translation worksheet and workspace readiness checklist.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Every subjective preference has an observable criterion.</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45</a:t>
            </a:r>
          </a:p>
        </p:txBody>
      </p:sp>
    </p:spTree>
  </p:cSld>
  <p:clrMapOvr>
    <a:masterClrMapping/>
  </p:clrMapOvr>
  <p:transition spd="slow">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02 | Marina Bay Event Library: Cull, Organise, and Retrieve</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K2, A1, A2</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hospitality group has 16 event photographs from a launch night. Marketing needs six images that show people, venue atmosphere, product detail, and a clean hero frame. The library must support later retrieval by campaign, subject, location, and approval status without duplicating originals.</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Digital asset lead, Marketing stakeholder, Event photographer.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six-image final-selects album and culling rationale.</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Album count matches the supplied set.</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46</a:t>
            </a:r>
          </a:p>
        </p:txBody>
      </p:sp>
    </p:spTree>
  </p:cSld>
  <p:clrMapOvr>
    <a:masterClrMapping/>
  </p:clrMapOvr>
  <p:transition spd="slow">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1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EDITING COMPETENCE</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The brief, edit decisions, before/after evidence, quality checks, stakeholder response, rights status, and output specification tell one coherent story.</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47</a:t>
            </a:r>
          </a:p>
        </p:txBody>
      </p:sp>
    </p:spTree>
  </p:cSld>
  <p:clrMapOvr>
    <a:masterClrMapping/>
  </p:clrMapOvr>
  <p:transition spd="slow">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48840"/>
            <a:ext cx="12191695" cy="1051560"/>
          </a:xfrm>
          <a:prstGeom prst="rect">
            <a:avLst/>
          </a:prstGeom>
          <a:noFill/>
        </p:spPr>
        <p:txBody>
          <a:bodyPr wrap="square" lIns="54864" rIns="54864" tIns="54864" bIns="54864" anchor="t">
            <a:spAutoFit/>
          </a:bodyPr>
          <a:lstStyle/>
          <a:p>
            <a:pPr algn="ctr"/>
            <a:r>
              <a:rPr sz="4400" b="1" i="0">
                <a:solidFill>
                  <a:srgbClr val="0E2A47"/>
                </a:solidFill>
                <a:latin typeface="Arial"/>
              </a:rPr>
              <a:t>Lunch Break</a:t>
            </a:r>
          </a:p>
        </p:txBody>
      </p:sp>
      <p:sp>
        <p:nvSpPr>
          <p:cNvPr id="6" name="TextBox 5"/>
          <p:cNvSpPr txBox="1"/>
          <p:nvPr/>
        </p:nvSpPr>
        <p:spPr>
          <a:xfrm>
            <a:off x="0" y="3520440"/>
            <a:ext cx="12191695" cy="548640"/>
          </a:xfrm>
          <a:prstGeom prst="rect">
            <a:avLst/>
          </a:prstGeom>
          <a:noFill/>
        </p:spPr>
        <p:txBody>
          <a:bodyPr wrap="square" lIns="54864" rIns="54864" tIns="54864" bIns="54864" anchor="t">
            <a:spAutoFit/>
          </a:bodyPr>
          <a:lstStyle/>
          <a:p>
            <a:pPr algn="ctr"/>
            <a:r>
              <a:rPr sz="1900" b="1" i="0">
                <a:solidFill>
                  <a:srgbClr val="E68300"/>
                </a:solidFill>
                <a:latin typeface="Arial"/>
              </a:rPr>
              <a:t>45 minutes</a:t>
            </a:r>
          </a:p>
        </p:txBody>
      </p:sp>
      <p:sp>
        <p:nvSpPr>
          <p:cNvPr id="7" name="TextBox 6"/>
          <p:cNvSpPr txBox="1"/>
          <p:nvPr/>
        </p:nvSpPr>
        <p:spPr>
          <a:xfrm>
            <a:off x="1965960" y="4617720"/>
            <a:ext cx="8229600" cy="502920"/>
          </a:xfrm>
          <a:prstGeom prst="rect">
            <a:avLst/>
          </a:prstGeom>
          <a:noFill/>
        </p:spPr>
        <p:txBody>
          <a:bodyPr wrap="square" lIns="54864" rIns="54864" tIns="54864" bIns="54864" anchor="t">
            <a:spAutoFit/>
          </a:bodyPr>
          <a:lstStyle/>
          <a:p>
            <a:pPr algn="ctr"/>
            <a:r>
              <a:rPr sz="1500" b="0" i="1">
                <a:solidFill>
                  <a:srgbClr val="5C6677"/>
                </a:solidFill>
                <a:latin typeface="Arial"/>
              </a:rPr>
              <a:t>Rest your eyes. Return ready to judge detail and colour accurately.</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48</a:t>
            </a:r>
          </a:p>
        </p:txBody>
      </p:sp>
    </p:spTree>
  </p:cSld>
  <p:clrMapOvr>
    <a:masterClrMapping/>
  </p:clrMapOvr>
  <p:transition spd="slow">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pic-2-editing.jpg"/>
          <p:cNvPicPr>
            <a:picLocks noChangeAspect="1"/>
          </p:cNvPicPr>
          <p:nvPr/>
        </p:nvPicPr>
        <p:blipFill>
          <a:blip r:embed="rId2"/>
          <a:srcRect t="5130" b="5130"/>
          <a:stretch>
            <a:fillRect/>
          </a:stretch>
        </p:blipFill>
        <p:spPr>
          <a:xfrm>
            <a:off x="6583680" y="411480"/>
            <a:ext cx="5257800" cy="5897880"/>
          </a:xfrm>
          <a:prstGeom prst="rect">
            <a:avLst/>
          </a:prstGeom>
        </p:spPr>
      </p:pic>
      <p:sp>
        <p:nvSpPr>
          <p:cNvPr id="4" name="Rectangle 3"/>
          <p:cNvSpPr/>
          <p:nvPr/>
        </p:nvSpPr>
        <p:spPr>
          <a:xfrm>
            <a:off x="5989320" y="411480"/>
            <a:ext cx="1280160"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008C95"/>
                </a:solidFill>
                <a:latin typeface="Arial"/>
              </a:rPr>
              <a:t>SECTION 02</a:t>
            </a:r>
          </a:p>
        </p:txBody>
      </p:sp>
      <p:sp>
        <p:nvSpPr>
          <p:cNvPr id="7" name="TextBox 6"/>
          <p:cNvSpPr txBox="1"/>
          <p:nvPr/>
        </p:nvSpPr>
        <p:spPr>
          <a:xfrm>
            <a:off x="658368" y="1325880"/>
            <a:ext cx="5486400" cy="1965960"/>
          </a:xfrm>
          <a:prstGeom prst="rect">
            <a:avLst/>
          </a:prstGeom>
          <a:noFill/>
        </p:spPr>
        <p:txBody>
          <a:bodyPr wrap="square" lIns="54864" rIns="54864" tIns="54864" bIns="54864" anchor="t">
            <a:spAutoFit/>
          </a:bodyPr>
          <a:lstStyle/>
          <a:p>
            <a:pPr algn="l"/>
            <a:r>
              <a:rPr sz="3400" b="1" i="0">
                <a:solidFill>
                  <a:srgbClr val="0E2A47"/>
                </a:solidFill>
                <a:latin typeface="Arial"/>
              </a:rPr>
              <a:t>Evaluate Digital Imaging Capabilities Using Lightroom</a:t>
            </a:r>
          </a:p>
        </p:txBody>
      </p:sp>
      <p:sp>
        <p:nvSpPr>
          <p:cNvPr id="8" name="TextBox 7"/>
          <p:cNvSpPr txBox="1"/>
          <p:nvPr/>
        </p:nvSpPr>
        <p:spPr>
          <a:xfrm>
            <a:off x="685800" y="3675887"/>
            <a:ext cx="5166360" cy="960120"/>
          </a:xfrm>
          <a:prstGeom prst="rect">
            <a:avLst/>
          </a:prstGeom>
          <a:noFill/>
        </p:spPr>
        <p:txBody>
          <a:bodyPr wrap="square" lIns="54864" rIns="54864" tIns="54864" bIns="54864" anchor="t">
            <a:spAutoFit/>
          </a:bodyPr>
          <a:lstStyle/>
          <a:p>
            <a:pPr algn="l"/>
            <a:r>
              <a:rPr sz="1600" b="0" i="0">
                <a:solidFill>
                  <a:srgbClr val="5C6677"/>
                </a:solidFill>
                <a:latin typeface="Arial"/>
              </a:rPr>
              <a:t>design | tone | colour | geometry | detail | masks | AI | workflow order | K4, K5, A3</a:t>
            </a:r>
          </a:p>
        </p:txBody>
      </p:sp>
      <p:sp>
        <p:nvSpPr>
          <p:cNvPr id="9" name="TextBox 8"/>
          <p:cNvSpPr txBox="1"/>
          <p:nvPr/>
        </p:nvSpPr>
        <p:spPr>
          <a:xfrm>
            <a:off x="685800" y="5175504"/>
            <a:ext cx="5212080" cy="640080"/>
          </a:xfrm>
          <a:prstGeom prst="rect">
            <a:avLst/>
          </a:prstGeom>
          <a:noFill/>
        </p:spPr>
        <p:txBody>
          <a:bodyPr wrap="square" lIns="54864" rIns="54864" tIns="54864" bIns="54864" anchor="t">
            <a:spAutoFit/>
          </a:bodyPr>
          <a:lstStyle/>
          <a:p>
            <a:pPr algn="l"/>
            <a:r>
              <a:rPr sz="1400" b="1" i="1">
                <a:solidFill>
                  <a:srgbClr val="008C95"/>
                </a:solidFill>
                <a:latin typeface="Arial"/>
              </a:rPr>
              <a:t>Observe the image. State the intent. Make a controlled change. Verify the result.</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49</a:t>
            </a:r>
          </a:p>
        </p:txBody>
      </p:sp>
    </p:spTree>
  </p:cSld>
  <p:clrMapOvr>
    <a:masterClrMapping/>
  </p:clrMapOvr>
  <p:transition spd="slow">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the Image Before Editing</a:t>
            </a:r>
          </a:p>
        </p:txBody>
      </p:sp>
      <p:pic>
        <p:nvPicPr>
          <p:cNvPr id="5" name="Picture 4" descr="image139.png"/>
          <p:cNvPicPr>
            <a:picLocks noChangeAspect="1"/>
          </p:cNvPicPr>
          <p:nvPr/>
        </p:nvPicPr>
        <p:blipFill>
          <a:blip r:embed="rId2"/>
          <a:srcRect t="12688" b="12688"/>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Diagnosis should lead the sliders; the sliders should never lead the diagnosis.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Subject and visual hierarchy</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Histogram and clipping</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Colour cast and skin tone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Distracting edges and geometry</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50</a:t>
            </a:r>
          </a:p>
        </p:txBody>
      </p:sp>
    </p:spTree>
  </p:cSld>
  <p:clrMapOvr>
    <a:masterClrMapping/>
  </p:clrMapOvr>
  <p:transition spd="slow">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Read the Image Before Editing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Subject and visual hierarchy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Histogram and clipping</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Colour cast and skin tone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Distracting edges and geometry</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51</a:t>
            </a:r>
          </a:p>
        </p:txBody>
      </p:sp>
    </p:spTree>
  </p:cSld>
  <p:clrMapOvr>
    <a:masterClrMapping/>
  </p:clrMapOvr>
  <p:transition spd="slow">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the Image Before Editing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editing by preset preview.</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State the visual problem, intended response, and evidence of improvement.</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52</a:t>
            </a:r>
          </a:p>
        </p:txBody>
      </p:sp>
    </p:spTree>
  </p:cSld>
  <p:clrMapOvr>
    <a:masterClrMapping/>
  </p:clrMapOvr>
  <p:transition spd="slow">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Principles Guide Every Edit</a:t>
            </a:r>
          </a:p>
        </p:txBody>
      </p:sp>
      <p:pic>
        <p:nvPicPr>
          <p:cNvPr id="5" name="Picture 4" descr="image72.png"/>
          <p:cNvPicPr>
            <a:picLocks noChangeAspect="1"/>
          </p:cNvPicPr>
          <p:nvPr/>
        </p:nvPicPr>
        <p:blipFill>
          <a:blip r:embed="rId2"/>
          <a:srcRect t="6541" b="6541"/>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Editing is design under evidence: every adjustment should strengthen the viewer's path.</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Contrast directs attention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Balance stabilises the frame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Colour creates mood and unity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Negative space improves emphasis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53</a:t>
            </a:r>
          </a:p>
        </p:txBody>
      </p:sp>
    </p:spTree>
  </p:cSld>
  <p:clrMapOvr>
    <a:masterClrMapping/>
  </p:clrMapOvr>
  <p:transition spd="slow">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Design Principles Guide Every Edit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Contrast directs attention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Balance stabilises the frame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Colour creates mood and unity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Negative space improves emphasis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54</a:t>
            </a:r>
          </a:p>
        </p:txBody>
      </p:sp>
    </p:spTree>
  </p:cSld>
  <p:clrMapOvr>
    <a:masterClrMapping/>
  </p:clrMapOvr>
  <p:transition spd="slow">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Principles Guide Every Edit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55</a:t>
            </a:r>
          </a:p>
        </p:txBody>
      </p:sp>
    </p:spTree>
  </p:cSld>
  <p:clrMapOvr>
    <a:masterClrMapping/>
  </p:clrMapOvr>
  <p:transition spd="slow">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Histogram and Tonal Range</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88.png"/>
          <p:cNvPicPr>
            <a:picLocks noChangeAspect="1"/>
          </p:cNvPicPr>
          <p:nvPr/>
        </p:nvPicPr>
        <p:blipFill>
          <a:blip r:embed="rId2"/>
          <a:stretch>
            <a:fillRect/>
          </a:stretch>
        </p:blipFill>
        <p:spPr>
          <a:xfrm>
            <a:off x="6766642" y="1463040"/>
            <a:ext cx="5376507" cy="4828032"/>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strong tonal edit protects important detail while preserving intentional contrast.</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Exposure moves overall brightness</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Highlights and shadows recover zones</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Whites and blacks set endpoints</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Clipping reveals lost information</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56</a:t>
            </a:r>
          </a:p>
        </p:txBody>
      </p:sp>
    </p:spTree>
  </p:cSld>
  <p:clrMapOvr>
    <a:masterClrMapping/>
  </p:clrMapOvr>
  <p:transition spd="slow">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Histogram and Tonal Range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Exposure moves overall brightness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Highlights and shadows recover zones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Whites and blacks set endpoints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Clipping reveals lost information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57</a:t>
            </a:r>
          </a:p>
        </p:txBody>
      </p:sp>
    </p:spTree>
  </p:cSld>
  <p:clrMapOvr>
    <a:masterClrMapping/>
  </p:clrMapOvr>
  <p:transition spd="slow">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Histogram and Tonal Range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flat recovery everywhere.</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the histogram as evidence, then judge the subject and mood visually.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58</a:t>
            </a:r>
          </a:p>
        </p:txBody>
      </p:sp>
    </p:spTree>
  </p:cSld>
  <p:clrMapOvr>
    <a:masterClrMapping/>
  </p:clrMapOvr>
  <p:transition spd="slow">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Tone Curve: Shape, Not Decoration</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96.png"/>
          <p:cNvPicPr>
            <a:picLocks noChangeAspect="1"/>
          </p:cNvPicPr>
          <p:nvPr/>
        </p:nvPicPr>
        <p:blipFill>
          <a:blip r:embed="rId2"/>
          <a:stretch>
            <a:fillRect/>
          </a:stretch>
        </p:blipFill>
        <p:spPr>
          <a:xfrm>
            <a:off x="6720840" y="2519430"/>
            <a:ext cx="5468112" cy="2715252"/>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curve is a map of relationships between input and output tone.</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Lift or lower tonal regions</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Create controlled contrast</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Protect endpoints</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Use channel curves for colour balance</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59</a:t>
            </a:r>
          </a:p>
        </p:txBody>
      </p:sp>
    </p:spTree>
  </p:cSld>
  <p:clrMapOvr>
    <a:masterClrMapping/>
  </p:clrMapOvr>
  <p:transition spd="slow">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Tone Curve: Shape, Not Decoration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Lift or lower tonal regions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Create controlled contrast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Protect endpoints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Use channel curves for colour balance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60</a:t>
            </a:r>
          </a:p>
        </p:txBody>
      </p:sp>
    </p:spTree>
  </p:cSld>
  <p:clrMapOvr>
    <a:masterClrMapping/>
  </p:clrMapOvr>
  <p:transition spd="slow">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Tone Curve: Shape, Not Decoration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61</a:t>
            </a:r>
          </a:p>
        </p:txBody>
      </p:sp>
    </p:spTree>
  </p:cSld>
  <p:clrMapOvr>
    <a:masterClrMapping/>
  </p:clrMapOvr>
  <p:transition spd="slow">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White Balance and Colour Intent</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86.png"/>
          <p:cNvPicPr>
            <a:picLocks noChangeAspect="1"/>
          </p:cNvPicPr>
          <p:nvPr/>
        </p:nvPicPr>
        <p:blipFill>
          <a:blip r:embed="rId2"/>
          <a:stretch>
            <a:fillRect/>
          </a:stretch>
        </p:blipFill>
        <p:spPr>
          <a:xfrm>
            <a:off x="6720840" y="2481921"/>
            <a:ext cx="5468112" cy="2790270"/>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Neutral is not always the goal; believable intention is.</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Temperature handles blue-yellow</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Tint handles green-magenta</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Vibrance protects already-saturated colour</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Saturation moves all colours together</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62</a:t>
            </a:r>
          </a:p>
        </p:txBody>
      </p:sp>
    </p:spTree>
  </p:cSld>
  <p:clrMapOvr>
    <a:masterClrMapping/>
  </p:clrMapOvr>
  <p:transition spd="slow">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White Balance and Colour Intent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Temperature handles blue-yellow</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Tint handles green-magenta</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Vibrance protects already-saturated colour</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Saturation moves all colours together</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63</a:t>
            </a:r>
          </a:p>
        </p:txBody>
      </p:sp>
    </p:spTree>
  </p:cSld>
  <p:clrMapOvr>
    <a:masterClrMapping/>
  </p:clrMapOvr>
  <p:transition spd="slow">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White Balance and Colour Intent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orange skin or radioactive colour.</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Correct casts first, then design the palette with restraint.</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64</a:t>
            </a:r>
          </a:p>
        </p:txBody>
      </p:sp>
    </p:spTree>
  </p:cSld>
  <p:clrMapOvr>
    <a:masterClrMapping/>
  </p:clrMapOvr>
  <p:transition spd="slow">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Colour Mixer and Colour Grading</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71.png"/>
          <p:cNvPicPr>
            <a:picLocks noChangeAspect="1"/>
          </p:cNvPicPr>
          <p:nvPr/>
        </p:nvPicPr>
        <p:blipFill>
          <a:blip r:embed="rId2"/>
          <a:stretch>
            <a:fillRect/>
          </a:stretch>
        </p:blipFill>
        <p:spPr>
          <a:xfrm>
            <a:off x="8038261" y="1463040"/>
            <a:ext cx="2833269" cy="4828032"/>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Colour works as a system: local decisions must still belong to one visual world.</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Hue changes colour identity</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Saturation changes intensity</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Luminance changes brightness</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Grading separates shadows, midtones, highlights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65</a:t>
            </a:r>
          </a:p>
        </p:txBody>
      </p:sp>
    </p:spTree>
  </p:cSld>
  <p:clrMapOvr>
    <a:masterClrMapping/>
  </p:clrMapOvr>
  <p:transition spd="slow">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Colour Mixer and Colour Grading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Hue changes colour identity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Saturation changes intensity</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Luminance changes brightness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Grading separates shadows, midtones, highlights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66</a:t>
            </a:r>
          </a:p>
        </p:txBody>
      </p:sp>
    </p:spTree>
  </p:cSld>
  <p:clrMapOvr>
    <a:masterClrMapping/>
  </p:clrMapOvr>
  <p:transition spd="slow">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Colour Mixer and Colour Grading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67</a:t>
            </a:r>
          </a:p>
        </p:txBody>
      </p:sp>
    </p:spTree>
  </p:cSld>
  <p:clrMapOvr>
    <a:masterClrMapping/>
  </p:clrMapOvr>
  <p:transition spd="slow">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Crop, Straighten, and Geometry</a:t>
            </a:r>
          </a:p>
        </p:txBody>
      </p:sp>
      <p:pic>
        <p:nvPicPr>
          <p:cNvPr id="5" name="Picture 4" descr="image75.png"/>
          <p:cNvPicPr>
            <a:picLocks noChangeAspect="1"/>
          </p:cNvPicPr>
          <p:nvPr/>
        </p:nvPicPr>
        <p:blipFill>
          <a:blip r:embed="rId2"/>
          <a:srcRect l="12699" r="1269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Composition is the first local adjustment: it decides what the image is about.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Aspect ratio follows destination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Crop strengthens hierarchy</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Upright corrects perspective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Constrain crop manages empty edges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68</a:t>
            </a:r>
          </a:p>
        </p:txBody>
      </p:sp>
    </p:spTree>
  </p:cSld>
  <p:clrMapOvr>
    <a:masterClrMapping/>
  </p:clrMapOvr>
  <p:transition spd="slow">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Crop, Straighten, and Geometry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Aspect ratio follows destination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Crop strengthens hierarchy</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Upright corrects perspective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Constrain crop manages empty edges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69</a:t>
            </a:r>
          </a:p>
        </p:txBody>
      </p:sp>
    </p:spTree>
  </p:cSld>
  <p:clrMapOvr>
    <a:masterClrMapping/>
  </p:clrMapOvr>
  <p:transition spd="slow">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Crop, Straighten, and Geometry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cropping around mistakes.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Choose format from use, align geometry, and preserve meaningful breathing room.</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70</a:t>
            </a:r>
          </a:p>
        </p:txBody>
      </p:sp>
    </p:spTree>
  </p:cSld>
  <p:clrMapOvr>
    <a:masterClrMapping/>
  </p:clrMapOvr>
  <p:transition spd="slow">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Texture, Clarity, Dehaze, and Vignette</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99.png"/>
          <p:cNvPicPr>
            <a:picLocks noChangeAspect="1"/>
          </p:cNvPicPr>
          <p:nvPr/>
        </p:nvPicPr>
        <p:blipFill>
          <a:blip r:embed="rId2"/>
          <a:stretch>
            <a:fillRect/>
          </a:stretch>
        </p:blipFill>
        <p:spPr>
          <a:xfrm>
            <a:off x="6720840" y="3022442"/>
            <a:ext cx="5468112" cy="1709228"/>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Presence controls are persuasive precisely because they are easy to overuse.</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Texture targets fine detail</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Clarity changes midtone edge contrast</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Dehaze shifts haze and saturation</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Vignette controls edge attention</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71</a:t>
            </a:r>
          </a:p>
        </p:txBody>
      </p:sp>
    </p:spTree>
  </p:cSld>
  <p:clrMapOvr>
    <a:masterClrMapping/>
  </p:clrMapOvr>
  <p:transition spd="slow">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Texture, Clarity, Dehaze, and Vignette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Texture targets fine detail</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Clarity changes midtone edge contrast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Dehaze shifts haze and saturation</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Vignette controls edge attention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72</a:t>
            </a:r>
          </a:p>
        </p:txBody>
      </p:sp>
    </p:spTree>
  </p:cSld>
  <p:clrMapOvr>
    <a:masterClrMapping/>
  </p:clrMapOvr>
  <p:transition spd="slow">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Texture, Clarity, Dehaze, and Vignette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73</a:t>
            </a:r>
          </a:p>
        </p:txBody>
      </p:sp>
    </p:spTree>
  </p:cSld>
  <p:clrMapOvr>
    <a:masterClrMapping/>
  </p:clrMapOvr>
  <p:transition spd="slow">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Detail, Optics, and Noise</a:t>
            </a:r>
          </a:p>
        </p:txBody>
      </p:sp>
      <p:pic>
        <p:nvPicPr>
          <p:cNvPr id="5" name="Picture 4" descr="image85.png"/>
          <p:cNvPicPr>
            <a:picLocks noChangeAspect="1"/>
          </p:cNvPicPr>
          <p:nvPr/>
        </p:nvPicPr>
        <p:blipFill>
          <a:blip r:embed="rId2"/>
          <a:srcRect l="18795" r="18795"/>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Technical polish is successful when the viewer notices the photograph, not the processing.</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Sharpen real edges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Mask sharpening away from smooth areas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Reduce luminance and colour noise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Correct lens and chromatic aberration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74</a:t>
            </a:r>
          </a:p>
        </p:txBody>
      </p:sp>
    </p:spTree>
  </p:cSld>
  <p:clrMapOvr>
    <a:masterClrMapping/>
  </p:clrMapOvr>
  <p:transition spd="slow">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Detail, Optics, and Noise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Sharpen real edges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Mask sharpening away from smooth areas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Reduce luminance and colour noise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Correct lens and chromatic aberration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75</a:t>
            </a:r>
          </a:p>
        </p:txBody>
      </p:sp>
    </p:spTree>
  </p:cSld>
  <p:clrMapOvr>
    <a:masterClrMapping/>
  </p:clrMapOvr>
  <p:transition spd="slow">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Detail, Optics, and Noise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plastic surfaces.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Inspect at 100%, balance detail against noise, and judge the final output size.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76</a:t>
            </a:r>
          </a:p>
        </p:txBody>
      </p:sp>
    </p:spTree>
  </p:cSld>
  <p:clrMapOvr>
    <a:masterClrMapping/>
  </p:clrMapOvr>
  <p:transition spd="slow">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Presets and Batch Consistency</a:t>
            </a:r>
          </a:p>
        </p:txBody>
      </p:sp>
      <p:pic>
        <p:nvPicPr>
          <p:cNvPr id="5" name="Picture 4" descr="image97.png"/>
          <p:cNvPicPr>
            <a:picLocks noChangeAspect="1"/>
          </p:cNvPicPr>
          <p:nvPr/>
        </p:nvPicPr>
        <p:blipFill>
          <a:blip r:embed="rId2"/>
          <a:srcRect t="26646" b="26646"/>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Consistency comes from repeatable intent—not identical slider values.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Profiles set rendering foundations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Presets encode a starting recipe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Copy/paste scales repeated decisions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Synced edits still need image-by-image review</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77</a:t>
            </a:r>
          </a:p>
        </p:txBody>
      </p:sp>
    </p:spTree>
  </p:cSld>
  <p:clrMapOvr>
    <a:masterClrMapping/>
  </p:clrMapOvr>
  <p:transition spd="slow">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Presets and Batch Consistency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Profiles set rendering foundations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Presets encode a starting recipe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Copy/paste scales repeated decisions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Synced edits still need image-by-image review</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78</a:t>
            </a:r>
          </a:p>
        </p:txBody>
      </p:sp>
    </p:spTree>
  </p:cSld>
  <p:clrMapOvr>
    <a:masterClrMapping/>
  </p:clrMapOvr>
  <p:transition spd="slow">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Presets and Batch Consistency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79</a:t>
            </a:r>
          </a:p>
        </p:txBody>
      </p:sp>
    </p:spTree>
  </p:cSld>
  <p:clrMapOvr>
    <a:masterClrMapping/>
  </p:clrMapOvr>
  <p:transition spd="slow">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Global Edits Before Local Edits</a:t>
            </a:r>
          </a:p>
        </p:txBody>
      </p:sp>
      <p:pic>
        <p:nvPicPr>
          <p:cNvPr id="5" name="Picture 4" descr="image87.png"/>
          <p:cNvPicPr>
            <a:picLocks noChangeAspect="1"/>
          </p:cNvPicPr>
          <p:nvPr/>
        </p:nvPicPr>
        <p:blipFill>
          <a:blip r:embed="rId2"/>
          <a:srcRect l="32656" r="32656"/>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stable edit order prevents local fixes from compensating for global problems.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Profile and white balance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Tone and colour</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Crop and geometry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Masks, retouch, and finishing</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80</a:t>
            </a:r>
          </a:p>
        </p:txBody>
      </p:sp>
    </p:spTree>
  </p:cSld>
  <p:clrMapOvr>
    <a:masterClrMapping/>
  </p:clrMapOvr>
  <p:transition spd="slow">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Global Edits Before Local Edits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Profile and white balance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Tone and colour</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Crop and geometry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Masks, retouch, and finishing</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81</a:t>
            </a:r>
          </a:p>
        </p:txBody>
      </p:sp>
    </p:spTree>
  </p:cSld>
  <p:clrMapOvr>
    <a:masterClrMapping/>
  </p:clrMapOvr>
  <p:transition spd="slow">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Global Edits Before Local Edits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masking too early.</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Work from broad relationships to small exceptions, then re-check the whole frame.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82</a:t>
            </a:r>
          </a:p>
        </p:txBody>
      </p:sp>
    </p:spTree>
  </p:cSld>
  <p:clrMapOvr>
    <a:masterClrMapping/>
  </p:clrMapOvr>
  <p:transition spd="slow">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Masking Is Controlled Attention</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24.png"/>
          <p:cNvPicPr>
            <a:picLocks noChangeAspect="1"/>
          </p:cNvPicPr>
          <p:nvPr/>
        </p:nvPicPr>
        <p:blipFill>
          <a:blip r:embed="rId2"/>
          <a:stretch>
            <a:fillRect/>
          </a:stretch>
        </p:blipFill>
        <p:spPr>
          <a:xfrm>
            <a:off x="6720840" y="1942782"/>
            <a:ext cx="5468112" cy="3868548"/>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good mask is invisible; the viewer experiences emphasis, not an edge.</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AI subject, sky, people, objects, landscape</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Brush, linear, and radial gradients</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Colour and luminance ranges</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Add, subtract, intersect, invert</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83</a:t>
            </a:r>
          </a:p>
        </p:txBody>
      </p:sp>
    </p:spTree>
  </p:cSld>
  <p:clrMapOvr>
    <a:masterClrMapping/>
  </p:clrMapOvr>
  <p:transition spd="slow">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Masking Is Controlled Attention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AI subject, sky, people, objects, landscape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Brush, linear, and radial gradients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Colour and luminance ranges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Add, subtract, intersect, invert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84</a:t>
            </a:r>
          </a:p>
        </p:txBody>
      </p:sp>
    </p:spTree>
  </p:cSld>
  <p:clrMapOvr>
    <a:masterClrMapping/>
  </p:clrMapOvr>
  <p:transition spd="slow">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Masking Is Controlled Attention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85</a:t>
            </a:r>
          </a:p>
        </p:txBody>
      </p:sp>
    </p:spTree>
  </p:cSld>
  <p:clrMapOvr>
    <a:masterClrMapping/>
  </p:clrMapOvr>
  <p:transition spd="slow">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Natural Mask Edges</a:t>
            </a:r>
          </a:p>
        </p:txBody>
      </p:sp>
      <p:pic>
        <p:nvPicPr>
          <p:cNvPr id="5" name="Picture 4" descr="image116.png"/>
          <p:cNvPicPr>
            <a:picLocks noChangeAspect="1"/>
          </p:cNvPicPr>
          <p:nvPr/>
        </p:nvPicPr>
        <p:blipFill>
          <a:blip r:embed="rId2"/>
          <a:srcRect l="11755" r="11755"/>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Selection quality is measured at the transition, not the centre.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Feather softens transitions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Edge expands or contracts selection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Add and subtract repair misses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Intersect limits adjustment precisely</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86</a:t>
            </a:r>
          </a:p>
        </p:txBody>
      </p:sp>
    </p:spTree>
  </p:cSld>
  <p:clrMapOvr>
    <a:masterClrMapping/>
  </p:clrMapOvr>
  <p:transition spd="slow">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Natural Mask Edges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Feather softens transitions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Edge expands or contracts selection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Add and subtract repair misses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Intersect limits adjustment precisely</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87</a:t>
            </a:r>
          </a:p>
        </p:txBody>
      </p:sp>
    </p:spTree>
  </p:cSld>
  <p:clrMapOvr>
    <a:masterClrMapping/>
  </p:clrMapOvr>
  <p:transition spd="slow">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Natural Mask Edges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halos around hair or horizons.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Push the adjustment temporarily, refine the boundary, then return to a natural strength.</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88</a:t>
            </a:r>
          </a:p>
        </p:txBody>
      </p:sp>
    </p:spTree>
  </p:cSld>
  <p:clrMapOvr>
    <a:masterClrMapping/>
  </p:clrMapOvr>
  <p:transition spd="slow">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Retouching and Generative Remove</a:t>
            </a:r>
          </a:p>
        </p:txBody>
      </p:sp>
      <p:pic>
        <p:nvPicPr>
          <p:cNvPr id="5" name="Picture 4" descr="image135.png"/>
          <p:cNvPicPr>
            <a:picLocks noChangeAspect="1"/>
          </p:cNvPicPr>
          <p:nvPr/>
        </p:nvPicPr>
        <p:blipFill>
          <a:blip r:embed="rId2"/>
          <a:srcRect l="14720" r="14720"/>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Use the least powerful tool that solves the distraction truthfully and cleanly.</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Heal samples texture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Clone copies pixels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Remove handles small distractions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Generative Remove fills larger gaps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89</a:t>
            </a:r>
          </a:p>
        </p:txBody>
      </p:sp>
    </p:spTree>
  </p:cSld>
  <p:clrMapOvr>
    <a:masterClrMapping/>
  </p:clrMapOvr>
  <p:transition spd="slow">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Retouching and Generative Remove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Heal samples texture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Clone copies pixels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Remove handles small distractions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Generative Remove fills larger gaps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90</a:t>
            </a:r>
          </a:p>
        </p:txBody>
      </p:sp>
    </p:spTree>
  </p:cSld>
  <p:clrMapOvr>
    <a:masterClrMapping/>
  </p:clrMapOvr>
  <p:transition spd="slow">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Retouching and Generative Remove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91</a:t>
            </a:r>
          </a:p>
        </p:txBody>
      </p:sp>
    </p:spTree>
  </p:cSld>
  <p:clrMapOvr>
    <a:masterClrMapping/>
  </p:clrMapOvr>
  <p:transition spd="slow">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AI Enhancement with Human Quality Control</a:t>
            </a:r>
          </a:p>
        </p:txBody>
      </p:sp>
      <p:pic>
        <p:nvPicPr>
          <p:cNvPr id="5" name="Picture 4" descr="image125.png"/>
          <p:cNvPicPr>
            <a:picLocks noChangeAspect="1"/>
          </p:cNvPicPr>
          <p:nvPr/>
        </p:nvPicPr>
        <p:blipFill>
          <a:blip r:embed="rId2"/>
          <a:srcRect l="15483" r="15483"/>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AI can propose pixels; the editor remains responsible for truth, artefacts, rights, and fitness for use.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Denoise balances noise and detail</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AI Sharpen can recover mild blur</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Generative Upscale creates larger derivatives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Generative Expand changes boundaries and content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92</a:t>
            </a:r>
          </a:p>
        </p:txBody>
      </p:sp>
    </p:spTree>
  </p:cSld>
  <p:clrMapOvr>
    <a:masterClrMapping/>
  </p:clrMapOvr>
  <p:transition spd="slow">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AI Enhancement with Human Quality Control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Denoise balances noise and detail</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AI Sharpen can recover mild blur</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Generative Upscale creates larger derivatives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Generative Expand changes boundaries and content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93</a:t>
            </a:r>
          </a:p>
        </p:txBody>
      </p:sp>
    </p:spTree>
  </p:cSld>
  <p:clrMapOvr>
    <a:masterClrMapping/>
  </p:clrMapOvr>
  <p:transition spd="slow">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AI Enhancement with Human Quality Control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trusting a 100% preview.</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Check faces, text, edges, repeated patterns, provenance, and delivery requirements.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94</a:t>
            </a:r>
          </a:p>
        </p:txBody>
      </p:sp>
    </p:spTree>
  </p:cSld>
  <p:clrMapOvr>
    <a:masterClrMapping/>
  </p:clrMapOvr>
  <p:transition spd="slow">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HDR, Panorama, and Merge Decisions</a:t>
            </a:r>
          </a:p>
        </p:txBody>
      </p:sp>
      <p:pic>
        <p:nvPicPr>
          <p:cNvPr id="5" name="Picture 4" descr="image103.png"/>
          <p:cNvPicPr>
            <a:picLocks noChangeAspect="1"/>
          </p:cNvPicPr>
          <p:nvPr/>
        </p:nvPicPr>
        <p:blipFill>
          <a:blip r:embed="rId2"/>
          <a:srcRect l="13363" r="13363"/>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Computational range is useful only when it supports a believable scene.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Capture overlap and exposure intentionally</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Merge before creative finishing</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Inspect seams and ghosting</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Keep a natural dynamic range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95</a:t>
            </a:r>
          </a:p>
        </p:txBody>
      </p:sp>
    </p:spTree>
  </p:cSld>
  <p:clrMapOvr>
    <a:masterClrMapping/>
  </p:clrMapOvr>
  <p:transition spd="slow">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HDR, Panorama, and Merge Decisions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Capture overlap and exposure intentionally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Merge before creative finishing</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Inspect seams and ghosting</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Keep a natural dynamic range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96</a:t>
            </a:r>
          </a:p>
        </p:txBody>
      </p:sp>
    </p:spTree>
  </p:cSld>
  <p:clrMapOvr>
    <a:masterClrMapping/>
  </p:clrMapOvr>
  <p:transition spd="slow">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HDR, Panorama, and Merge Decisions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97</a:t>
            </a:r>
          </a:p>
        </p:txBody>
      </p:sp>
    </p:spTree>
  </p:cSld>
  <p:clrMapOvr>
    <a:masterClrMapping/>
  </p:clrMapOvr>
  <p:transition spd="slow">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6F42C1"/>
                </a:solidFill>
                <a:latin typeface="Arial"/>
              </a:rPr>
              <a:t>MASTER EDITOR PRINCIPLE</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“Diagnosis should lead the sliders; the sliders should never lead the diagnosis.”</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topic's decision rule, then prove it through the activity evidence.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6F42C1"/>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98</a:t>
            </a:r>
          </a:p>
        </p:txBody>
      </p:sp>
    </p:spTree>
  </p:cSld>
  <p:clrMapOvr>
    <a:masterClrMapping/>
  </p:clrMapOvr>
  <p:transition spd="slow">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Activity 03 | Artisan Bakery Product Series: Tone, Colour, and Consistency</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K4, K5,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neighbourhood bakery needs a cohesive image set for its online menu. The photographs were captured under mixed lighting and vary in brightness. The food must look warm and inviting but still believable, with consistent whites and product colour across the series.</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Lead editor, Bakery owner, Food stylist.</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before/after hero comparison and reusable global preset.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No important clipping.</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99</a:t>
            </a:r>
          </a:p>
        </p:txBody>
      </p:sp>
    </p:spTree>
  </p:cSld>
  <p:clrMapOvr>
    <a:masterClrMapping/>
  </p:clrMapOvr>
  <p:transition spd="slow">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Activity 04 | Heritage Hotel Interior: Composition, Geometry, and Local Light</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K4, K5,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heritage hotel wants an interior photograph for a booking page. Vertical lines converge, the window is bright, furniture shadows are deep, and the eye is drawn away from the seating area. The final should feel spacious and calm without misrepresenting the room.</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Architectural editor, Hotel marketing lead, Interior designer.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corrected interior image and mask boundary inspection screenshots.</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Key lines are credible.</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100</a:t>
            </a:r>
          </a:p>
        </p:txBody>
      </p:sp>
    </p:spTree>
  </p:cSld>
  <p:clrMapOvr>
    <a:masterClrMapping/>
  </p:clrMapOvr>
  <p:transition spd="slow">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Activity 05 | Community Portrait Campaign: Natural Masking and Retouching</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K4, K5,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community campaign needs a warm portrait that feels authentic. The subject is underexposed, the background competes for attention, and small distractions are visible. The client forbids body reshaping and wants skin texture and identity preserved.</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Portrait editor, Campaign producer, Subject advocate.</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natural portrait edit and mask-refinement evidence.</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Identity and skin texture are preserved.</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101</a:t>
            </a:r>
          </a:p>
        </p:txBody>
      </p:sp>
    </p:spTree>
  </p:cSld>
  <p:clrMapOvr>
    <a:masterClrMapping/>
  </p:clrMapOvr>
  <p:transition spd="slow">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Activity 06 | Tourism Image Rescue: Detail, Removal, and AI Enhancement</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K2, K4, K5,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tourism team has a hazy, noisy image that needs a larger display version. There are distracting people and a sensor spot. The image is useful but borderline, so the editor must compare conventional and AI-assisted options, identify artefacts, and recommend whether it is fit for use.</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Imaging specialist, Tourism art director, Authenticity reviewer.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conventional and ai-assisted comparison and artefact inspection sheet.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All AI outputs are separate from the original.</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102</a:t>
            </a:r>
          </a:p>
        </p:txBody>
      </p:sp>
    </p:spTree>
  </p:cSld>
  <p:clrMapOvr>
    <a:masterClrMapping/>
  </p:clrMapOvr>
  <p:transition spd="slow">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2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EDITING COMPETENCE</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The brief, edit decisions, before/after evidence, quality checks, stakeholder response, rights status, and output specification tell one coherent story.</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103</a:t>
            </a:r>
          </a:p>
        </p:txBody>
      </p:sp>
    </p:spTree>
  </p:cSld>
  <p:clrMapOvr>
    <a:masterClrMapping/>
  </p:clrMapOvr>
  <p:transition spd="slow">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48840"/>
            <a:ext cx="12191695" cy="1051560"/>
          </a:xfrm>
          <a:prstGeom prst="rect">
            <a:avLst/>
          </a:prstGeom>
          <a:noFill/>
        </p:spPr>
        <p:txBody>
          <a:bodyPr wrap="square" lIns="54864" rIns="54864" tIns="54864" bIns="54864" anchor="t">
            <a:spAutoFit/>
          </a:bodyPr>
          <a:lstStyle/>
          <a:p>
            <a:pPr algn="ctr"/>
            <a:r>
              <a:rPr sz="4400" b="1" i="0">
                <a:solidFill>
                  <a:srgbClr val="0E2A47"/>
                </a:solidFill>
                <a:latin typeface="Arial"/>
              </a:rPr>
              <a:t>Afternoon Break</a:t>
            </a:r>
          </a:p>
        </p:txBody>
      </p:sp>
      <p:sp>
        <p:nvSpPr>
          <p:cNvPr id="6" name="TextBox 5"/>
          <p:cNvSpPr txBox="1"/>
          <p:nvPr/>
        </p:nvSpPr>
        <p:spPr>
          <a:xfrm>
            <a:off x="0" y="3520440"/>
            <a:ext cx="12191695" cy="548640"/>
          </a:xfrm>
          <a:prstGeom prst="rect">
            <a:avLst/>
          </a:prstGeom>
          <a:noFill/>
        </p:spPr>
        <p:txBody>
          <a:bodyPr wrap="square" lIns="54864" rIns="54864" tIns="54864" bIns="54864" anchor="t">
            <a:spAutoFit/>
          </a:bodyPr>
          <a:lstStyle/>
          <a:p>
            <a:pPr algn="ctr"/>
            <a:r>
              <a:rPr sz="1900" b="1" i="0">
                <a:solidFill>
                  <a:srgbClr val="E68300"/>
                </a:solidFill>
                <a:latin typeface="Arial"/>
              </a:rPr>
              <a:t>10 minutes</a:t>
            </a:r>
          </a:p>
        </p:txBody>
      </p:sp>
      <p:sp>
        <p:nvSpPr>
          <p:cNvPr id="7" name="TextBox 6"/>
          <p:cNvSpPr txBox="1"/>
          <p:nvPr/>
        </p:nvSpPr>
        <p:spPr>
          <a:xfrm>
            <a:off x="1965960" y="4617720"/>
            <a:ext cx="8229600" cy="502920"/>
          </a:xfrm>
          <a:prstGeom prst="rect">
            <a:avLst/>
          </a:prstGeom>
          <a:noFill/>
        </p:spPr>
        <p:txBody>
          <a:bodyPr wrap="square" lIns="54864" rIns="54864" tIns="54864" bIns="54864" anchor="t">
            <a:spAutoFit/>
          </a:bodyPr>
          <a:lstStyle/>
          <a:p>
            <a:pPr algn="ctr"/>
            <a:r>
              <a:rPr sz="1500" b="0" i="1">
                <a:solidFill>
                  <a:srgbClr val="5C6677"/>
                </a:solidFill>
                <a:latin typeface="Arial"/>
              </a:rPr>
              <a:t>Rest your eyes. Return ready to judge detail and colour accurately.</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104</a:t>
            </a:r>
          </a:p>
        </p:txBody>
      </p:sp>
    </p:spTree>
  </p:cSld>
  <p:clrMapOvr>
    <a:masterClrMapping/>
  </p:clrMapOvr>
  <p:transition spd="slow">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pic-3-production.jpg"/>
          <p:cNvPicPr>
            <a:picLocks noChangeAspect="1"/>
          </p:cNvPicPr>
          <p:nvPr/>
        </p:nvPicPr>
        <p:blipFill>
          <a:blip r:embed="rId2"/>
          <a:srcRect l="20284" r="20284"/>
          <a:stretch>
            <a:fillRect/>
          </a:stretch>
        </p:blipFill>
        <p:spPr>
          <a:xfrm>
            <a:off x="6583680" y="411480"/>
            <a:ext cx="5257800" cy="5897880"/>
          </a:xfrm>
          <a:prstGeom prst="rect">
            <a:avLst/>
          </a:prstGeom>
        </p:spPr>
      </p:pic>
      <p:sp>
        <p:nvSpPr>
          <p:cNvPr id="4" name="Rectangle 3"/>
          <p:cNvSpPr/>
          <p:nvPr/>
        </p:nvSpPr>
        <p:spPr>
          <a:xfrm>
            <a:off x="5989320" y="411480"/>
            <a:ext cx="1280160"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008C95"/>
                </a:solidFill>
                <a:latin typeface="Arial"/>
              </a:rPr>
              <a:t>SECTION 03</a:t>
            </a:r>
          </a:p>
        </p:txBody>
      </p:sp>
      <p:sp>
        <p:nvSpPr>
          <p:cNvPr id="7" name="TextBox 6"/>
          <p:cNvSpPr txBox="1"/>
          <p:nvPr/>
        </p:nvSpPr>
        <p:spPr>
          <a:xfrm>
            <a:off x="658368" y="1325880"/>
            <a:ext cx="5486400" cy="1965960"/>
          </a:xfrm>
          <a:prstGeom prst="rect">
            <a:avLst/>
          </a:prstGeom>
          <a:noFill/>
        </p:spPr>
        <p:txBody>
          <a:bodyPr wrap="square" lIns="54864" rIns="54864" tIns="54864" bIns="54864" anchor="t">
            <a:spAutoFit/>
          </a:bodyPr>
          <a:lstStyle/>
          <a:p>
            <a:pPr algn="l"/>
            <a:r>
              <a:rPr sz="3400" b="1" i="0">
                <a:solidFill>
                  <a:srgbClr val="0E2A47"/>
                </a:solidFill>
                <a:latin typeface="Arial"/>
              </a:rPr>
              <a:t>Process of Digital Image Production</a:t>
            </a:r>
          </a:p>
        </p:txBody>
      </p:sp>
      <p:sp>
        <p:nvSpPr>
          <p:cNvPr id="8" name="TextBox 7"/>
          <p:cNvSpPr txBox="1"/>
          <p:nvPr/>
        </p:nvSpPr>
        <p:spPr>
          <a:xfrm>
            <a:off x="685800" y="3675887"/>
            <a:ext cx="5166360" cy="960120"/>
          </a:xfrm>
          <a:prstGeom prst="rect">
            <a:avLst/>
          </a:prstGeom>
          <a:noFill/>
        </p:spPr>
        <p:txBody>
          <a:bodyPr wrap="square" lIns="54864" rIns="54864" tIns="54864" bIns="54864" anchor="t">
            <a:spAutoFit/>
          </a:bodyPr>
          <a:lstStyle/>
          <a:p>
            <a:pPr algn="l"/>
            <a:r>
              <a:rPr sz="1600" b="0" i="0">
                <a:solidFill>
                  <a:srgbClr val="5C6677"/>
                </a:solidFill>
                <a:latin typeface="Arial"/>
              </a:rPr>
              <a:t>review | collaboration | IP | metadata | export | quality assurance | K6, A4</a:t>
            </a:r>
          </a:p>
        </p:txBody>
      </p:sp>
      <p:sp>
        <p:nvSpPr>
          <p:cNvPr id="9" name="TextBox 8"/>
          <p:cNvSpPr txBox="1"/>
          <p:nvPr/>
        </p:nvSpPr>
        <p:spPr>
          <a:xfrm>
            <a:off x="685800" y="5175504"/>
            <a:ext cx="5212080" cy="640080"/>
          </a:xfrm>
          <a:prstGeom prst="rect">
            <a:avLst/>
          </a:prstGeom>
          <a:noFill/>
        </p:spPr>
        <p:txBody>
          <a:bodyPr wrap="square" lIns="54864" rIns="54864" tIns="54864" bIns="54864" anchor="t">
            <a:spAutoFit/>
          </a:bodyPr>
          <a:lstStyle/>
          <a:p>
            <a:pPr algn="l"/>
            <a:r>
              <a:rPr sz="1400" b="1" i="1">
                <a:solidFill>
                  <a:srgbClr val="008C95"/>
                </a:solidFill>
                <a:latin typeface="Arial"/>
              </a:rPr>
              <a:t>Observe the image. State the intent. Make a controlled change. Verify the result.</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105</a:t>
            </a:r>
          </a:p>
        </p:txBody>
      </p:sp>
    </p:spTree>
  </p:cSld>
  <p:clrMapOvr>
    <a:masterClrMapping/>
  </p:clrMapOvr>
  <p:transition spd="slow">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 Production Workflow Is a Decision Trail</a:t>
            </a:r>
          </a:p>
        </p:txBody>
      </p:sp>
      <p:pic>
        <p:nvPicPr>
          <p:cNvPr id="5" name="Picture 4" descr="image103.png"/>
          <p:cNvPicPr>
            <a:picLocks noChangeAspect="1"/>
          </p:cNvPicPr>
          <p:nvPr/>
        </p:nvPicPr>
        <p:blipFill>
          <a:blip r:embed="rId2"/>
          <a:srcRect l="13363" r="13363"/>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Professional editing is repeatable because its decisions can be explained and traced.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Brief and rights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Select and edit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Review and approve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Export, deliver, archive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106</a:t>
            </a:r>
          </a:p>
        </p:txBody>
      </p:sp>
    </p:spTree>
  </p:cSld>
  <p:clrMapOvr>
    <a:masterClrMapping/>
  </p:clrMapOvr>
  <p:transition spd="slow">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 Production Workflow Is a Decision Trail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Brief and rights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Select and edit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Review and approve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Export, deliver, archive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107</a:t>
            </a:r>
          </a:p>
        </p:txBody>
      </p:sp>
    </p:spTree>
  </p:cSld>
  <p:clrMapOvr>
    <a:masterClrMapping/>
  </p:clrMapOvr>
  <p:transition spd="slow">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 Production Workflow Is a Decision Trail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final-file mystery.</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Record purpose, version, approver, export specification, and rights status.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108</a:t>
            </a:r>
          </a:p>
        </p:txBody>
      </p:sp>
    </p:spTree>
  </p:cSld>
  <p:clrMapOvr>
    <a:masterClrMapping/>
  </p:clrMapOvr>
  <p:transition spd="slow">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Stakeholder Review Without Slider Debate</a:t>
            </a:r>
          </a:p>
        </p:txBody>
      </p:sp>
      <p:pic>
        <p:nvPicPr>
          <p:cNvPr id="5" name="Picture 4" descr="image139.png"/>
          <p:cNvPicPr>
            <a:picLocks noChangeAspect="1"/>
          </p:cNvPicPr>
          <p:nvPr/>
        </p:nvPicPr>
        <p:blipFill>
          <a:blip r:embed="rId2"/>
          <a:srcRect t="12688" b="12688"/>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Feedback improves when people judge outcomes, not unfamiliar controls.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Show options against the brief</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Ask about message and audience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Capture one decision owner</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Separate preference from requirement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109</a:t>
            </a:r>
          </a:p>
        </p:txBody>
      </p:sp>
    </p:spTree>
  </p:cSld>
  <p:clrMapOvr>
    <a:masterClrMapping/>
  </p:clrMapOvr>
  <p:transition spd="slow">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Stakeholder Review Without Slider Debate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Show options against the brief</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Ask about message and audience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Capture one decision owner</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Separate preference from requirement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110</a:t>
            </a:r>
          </a:p>
        </p:txBody>
      </p:sp>
    </p:spTree>
  </p:cSld>
  <p:clrMapOvr>
    <a:masterClrMapping/>
  </p:clrMapOvr>
  <p:transition spd="slow">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Stakeholder Review Without Slider Debate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111</a:t>
            </a:r>
          </a:p>
        </p:txBody>
      </p:sp>
    </p:spTree>
  </p:cSld>
  <p:clrMapOvr>
    <a:masterClrMapping/>
  </p:clrMapOvr>
  <p:transition spd="slow">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Shared Albums and Collaboration Controls</a:t>
            </a:r>
          </a:p>
        </p:txBody>
      </p:sp>
      <p:pic>
        <p:nvPicPr>
          <p:cNvPr id="5" name="Picture 4" descr="image117.png"/>
          <p:cNvPicPr>
            <a:picLocks noChangeAspect="1"/>
          </p:cNvPicPr>
          <p:nvPr/>
        </p:nvPicPr>
        <p:blipFill>
          <a:blip r:embed="rId2"/>
          <a:srcRect t="924" b="924"/>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Sharing is a permissions design problem as much as a presentation choice.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Invite-only or anyone-with-link</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Comments and likes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Contributor upload rights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Download, metadata, and location settings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112</a:t>
            </a:r>
          </a:p>
        </p:txBody>
      </p:sp>
    </p:spTree>
  </p:cSld>
  <p:clrMapOvr>
    <a:masterClrMapping/>
  </p:clrMapOvr>
  <p:transition spd="slow">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Shared Albums and Collaboration Controls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Invite-only or anyone-with-link</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Comments and likes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Contributor upload rights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Download, metadata, and location settings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113</a:t>
            </a:r>
          </a:p>
        </p:txBody>
      </p:sp>
    </p:spTree>
  </p:cSld>
  <p:clrMapOvr>
    <a:masterClrMapping/>
  </p:clrMapOvr>
  <p:transition spd="slow">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Shared Albums and Collaboration Controls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overshared client material.</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least privilege, remove location data when needed, and review access after approval.</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114</a:t>
            </a:r>
          </a:p>
        </p:txBody>
      </p:sp>
    </p:spTree>
  </p:cSld>
  <p:clrMapOvr>
    <a:masterClrMapping/>
  </p:clrMapOvr>
  <p:transition spd="slow">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Copyright, Licence, and Consent</a:t>
            </a:r>
          </a:p>
        </p:txBody>
      </p:sp>
      <p:pic>
        <p:nvPicPr>
          <p:cNvPr id="5" name="Picture 4" descr="image95.png"/>
          <p:cNvPicPr>
            <a:picLocks noChangeAspect="1"/>
          </p:cNvPicPr>
          <p:nvPr/>
        </p:nvPicPr>
        <p:blipFill>
          <a:blip r:embed="rId2"/>
          <a:srcRect l="12506" r="12506"/>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Possession of a file is not permission to publish it.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Copyright protects original expression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Licences define permitted use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Model/property releases address consent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Trademarks and publicity rights add constraints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115</a:t>
            </a:r>
          </a:p>
        </p:txBody>
      </p:sp>
    </p:spTree>
  </p:cSld>
  <p:clrMapOvr>
    <a:masterClrMapping/>
  </p:clrMapOvr>
  <p:transition spd="slow">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Copyright, Licence, and Consent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Copyright protects original expression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Licences define permitted use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Model/property releases address consent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Trademarks and publicity rights add constraints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116</a:t>
            </a:r>
          </a:p>
        </p:txBody>
      </p:sp>
    </p:spTree>
  </p:cSld>
  <p:clrMapOvr>
    <a:masterClrMapping/>
  </p:clrMapOvr>
  <p:transition spd="slow">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Copyright, Licence, and Consent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117</a:t>
            </a:r>
          </a:p>
        </p:txBody>
      </p:sp>
    </p:spTree>
  </p:cSld>
  <p:clrMapOvr>
    <a:masterClrMapping/>
  </p:clrMapOvr>
  <p:transition spd="slow">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Generative AI, Authenticity, and Provenance</a:t>
            </a:r>
          </a:p>
        </p:txBody>
      </p:sp>
      <p:pic>
        <p:nvPicPr>
          <p:cNvPr id="5" name="Picture 4" descr="image140.png"/>
          <p:cNvPicPr>
            <a:picLocks noChangeAspect="1"/>
          </p:cNvPicPr>
          <p:nvPr/>
        </p:nvPicPr>
        <p:blipFill>
          <a:blip r:embed="rId2"/>
          <a:srcRect t="21252" b="21252"/>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Technical possibility does not remove ethical responsibility.</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Generated pixels can alter factual meaning</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Content Credentials can carry provenance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Document material AI interventions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Editorial uses need stricter judgement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118</a:t>
            </a:r>
          </a:p>
        </p:txBody>
      </p:sp>
    </p:spTree>
  </p:cSld>
  <p:clrMapOvr>
    <a:masterClrMapping/>
  </p:clrMapOvr>
  <p:transition spd="slow">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Generative AI, Authenticity, and Provenance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Generated pixels can alter factual meaning</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Content Credentials can carry provenance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Document material AI interventions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Editorial uses need stricter judgement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119</a:t>
            </a:r>
          </a:p>
        </p:txBody>
      </p:sp>
    </p:spTree>
  </p:cSld>
  <p:clrMapOvr>
    <a:masterClrMapping/>
  </p:clrMapOvr>
  <p:transition spd="slow">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Generative AI, Authenticity, and Provenance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synthetic documentary detail.</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Classify the use, preserve originals, disclose material edits, and obtain approval.</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120</a:t>
            </a:r>
          </a:p>
        </p:txBody>
      </p:sp>
    </p:spTree>
  </p:cSld>
  <p:clrMapOvr>
    <a:masterClrMapping/>
  </p:clrMapOvr>
  <p:transition spd="slow">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Export Specifications Follow the Destination</a:t>
            </a:r>
          </a:p>
        </p:txBody>
      </p:sp>
      <p:pic>
        <p:nvPicPr>
          <p:cNvPr id="5" name="Picture 4" descr="image134.png"/>
          <p:cNvPicPr>
            <a:picLocks noChangeAspect="1"/>
          </p:cNvPicPr>
          <p:nvPr/>
        </p:nvPicPr>
        <p:blipFill>
          <a:blip r:embed="rId2"/>
          <a:srcRect t="25322" b="25322"/>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Export is translation: preserve the intent while meeting the destination's constraints.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Pixel dimensions and aspect ratio</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JPEG quality and file size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sRGB for common digital delivery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Naming, watermark, and metadata</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121</a:t>
            </a:r>
          </a:p>
        </p:txBody>
      </p:sp>
    </p:spTree>
  </p:cSld>
  <p:clrMapOvr>
    <a:masterClrMapping/>
  </p:clrMapOvr>
  <p:transition spd="slow">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Export Specifications Follow the Destination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Pixel dimensions and aspect ratio</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JPEG quality and file size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sRGB for common digital delivery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Naming, watermark, and metadata</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122</a:t>
            </a:r>
          </a:p>
        </p:txBody>
      </p:sp>
    </p:spTree>
  </p:cSld>
  <p:clrMapOvr>
    <a:masterClrMapping/>
  </p:clrMapOvr>
  <p:transition spd="slow">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Export Specifications Follow the Destination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123</a:t>
            </a:r>
          </a:p>
        </p:txBody>
      </p:sp>
    </p:spTree>
  </p:cSld>
  <p:clrMapOvr>
    <a:masterClrMapping/>
  </p:clrMapOvr>
  <p:transition spd="slow">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Quality Assurance Before Delivery</a:t>
            </a:r>
          </a:p>
        </p:txBody>
      </p:sp>
      <p:sp>
        <p:nvSpPr>
          <p:cNvPr id="5" name="Rounded Rectangle 4"/>
          <p:cNvSpPr/>
          <p:nvPr/>
        </p:nvSpPr>
        <p:spPr>
          <a:xfrm>
            <a:off x="6720840" y="1463040"/>
            <a:ext cx="5468112" cy="482803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88.png"/>
          <p:cNvPicPr>
            <a:picLocks noChangeAspect="1"/>
          </p:cNvPicPr>
          <p:nvPr/>
        </p:nvPicPr>
        <p:blipFill>
          <a:blip r:embed="rId2"/>
          <a:stretch>
            <a:fillRect/>
          </a:stretch>
        </p:blipFill>
        <p:spPr>
          <a:xfrm>
            <a:off x="6766642" y="1463040"/>
            <a:ext cx="5376507" cy="4828032"/>
          </a:xfrm>
          <a:prstGeom prst="rect">
            <a:avLst/>
          </a:prstGeom>
        </p:spPr>
      </p:pic>
      <p:sp>
        <p:nvSpPr>
          <p:cNvPr id="7" name="Rounded Rectangle 6"/>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last 2% of inspection protects 100% of client confidence.</a:t>
            </a:r>
          </a:p>
        </p:txBody>
      </p:sp>
      <p:sp>
        <p:nvSpPr>
          <p:cNvPr id="9" name="Rounded Rectangle 8"/>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Compare to brief and reference</a:t>
            </a:r>
          </a:p>
        </p:txBody>
      </p:sp>
      <p:sp>
        <p:nvSpPr>
          <p:cNvPr id="12" name="Rounded Rectangle 11"/>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Inspect focus, artefacts, and edges</a:t>
            </a:r>
          </a:p>
        </p:txBody>
      </p:sp>
      <p:sp>
        <p:nvSpPr>
          <p:cNvPr id="15" name="Rounded Rectangle 14"/>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Verify colour, crop, metadata, and rights</a:t>
            </a:r>
          </a:p>
        </p:txBody>
      </p:sp>
      <p:sp>
        <p:nvSpPr>
          <p:cNvPr id="18" name="Rounded Rectangle 17"/>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Open the exported file on target devices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124</a:t>
            </a:r>
          </a:p>
        </p:txBody>
      </p:sp>
    </p:spTree>
  </p:cSld>
  <p:clrMapOvr>
    <a:masterClrMapping/>
  </p:clrMapOvr>
  <p:transition spd="slow">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Quality Assurance Before Delivery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Compare to brief and reference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Inspect focus, artefacts, and edges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Verify colour, crop, metadata, and rights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Open the exported file on target devices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125</a:t>
            </a:r>
          </a:p>
        </p:txBody>
      </p:sp>
    </p:spTree>
  </p:cSld>
  <p:clrMapOvr>
    <a:masterClrMapping/>
  </p:clrMapOvr>
  <p:transition spd="slow">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Quality Assurance Before Delivery | Quality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shipping from memory.</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An unexamined edit can create artefacts, inconsistency, rights risk, or a delivery failure.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a checklist and a second reviewer for high-risk or high-volume work.</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126</a:t>
            </a:r>
          </a:p>
        </p:txBody>
      </p:sp>
    </p:spTree>
  </p:cSld>
  <p:clrMapOvr>
    <a:masterClrMapping/>
  </p:clrMapOvr>
  <p:transition spd="slow">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EDITING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Archive for Reuse and Audit</a:t>
            </a:r>
          </a:p>
        </p:txBody>
      </p:sp>
      <p:pic>
        <p:nvPicPr>
          <p:cNvPr id="5" name="Picture 4" descr="image115.png"/>
          <p:cNvPicPr>
            <a:picLocks noChangeAspect="1"/>
          </p:cNvPicPr>
          <p:nvPr/>
        </p:nvPicPr>
        <p:blipFill>
          <a:blip r:embed="rId2"/>
          <a:srcRect t="14458" b="14458"/>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reusable archive preserves creative value, rights evidence, and production learning.</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Keep originals and approved derivatives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Retain edit history where appropriate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Use clear version and project naming</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Apply retention and access rules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127</a:t>
            </a:r>
          </a:p>
        </p:txBody>
      </p:sp>
    </p:spTree>
  </p:cSld>
  <p:clrMapOvr>
    <a:masterClrMapping/>
  </p:clrMapOvr>
  <p:transition spd="slow">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Archive for Reuse and Audit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Keep originals and approved derivatives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Retain edit history where appropriate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Use clear version and project naming</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Apply retention and access rules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the control or decision to the brief, inspect the evidence, and compare the result.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128</a:t>
            </a:r>
          </a:p>
        </p:txBody>
      </p:sp>
    </p:spTree>
  </p:cSld>
  <p:clrMapOvr>
    <a:masterClrMapping/>
  </p:clrMapOvr>
  <p:transition spd="slow">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Archive for Reuse and Audit | Decision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State intent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Adjust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Compare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Verify</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129</a:t>
            </a:r>
          </a:p>
        </p:txBody>
      </p:sp>
    </p:spTree>
  </p:cSld>
  <p:clrMapOvr>
    <a:masterClrMapping/>
  </p:clrMapOvr>
  <p:transition spd="slow">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6F42C1"/>
                </a:solidFill>
                <a:latin typeface="Arial"/>
              </a:rPr>
              <a:t>MASTER EDITOR PRINCIPLE</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“Professional editing is repeatable because its decisions can be explained and traced.”</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topic's decision rule, then prove it through the activity evidence.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6F42C1"/>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130</a:t>
            </a:r>
          </a:p>
        </p:txBody>
      </p:sp>
    </p:spTree>
  </p:cSld>
  <p:clrMapOvr>
    <a:masterClrMapping/>
  </p:clrMapOvr>
  <p:transition spd="slow">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07 | Capstone: Northstar Retail Campaign Review and Delivery</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K1-K6, A1-A4</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Northstar Home, a Singapore lifestyle retailer, needs a six-image launch set for web, social media, and an in-store screen. Stakeholders disagree about mood, two source images have uncertain licence records, one portrait contains location metadata, and the marketing lead wants a shareable review album by 3:15 pm. You must manage the brief, editing, evaluation, collaboration, IP checks, and delivery trail.</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STAKEHOLDER LENS</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Work with Lead photo editor, Marketing lead, Brand designer.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creative brief and rights register and six-image edited campaign set.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All K1-K6 and A1-A4 evidence is traceable.</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workflow, scenario, questions, evidence templates,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131</a:t>
            </a:r>
          </a:p>
        </p:txBody>
      </p:sp>
    </p:spTree>
  </p:cSld>
  <p:clrMapOvr>
    <a:masterClrMapping/>
  </p:clrMapOvr>
  <p:transition spd="slow">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3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EDITING COMPETENCE</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The brief, edit decisions, before/after evidence, quality checks, stakeholder response, rights status, and output specification tell one coherent story.</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132</a:t>
            </a:r>
          </a:p>
        </p:txBody>
      </p:sp>
    </p:spTree>
  </p:cSld>
  <p:clrMapOvr>
    <a:masterClrMapping/>
  </p:clrMapOvr>
  <p:transition spd="slow">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duction-04.jpg"/>
          <p:cNvPicPr>
            <a:picLocks noChangeAspect="1"/>
          </p:cNvPicPr>
          <p:nvPr/>
        </p:nvPicPr>
        <p:blipFill>
          <a:blip r:embed="rId2"/>
          <a:srcRect l="20284" r="20284"/>
          <a:stretch>
            <a:fillRect/>
          </a:stretch>
        </p:blipFill>
        <p:spPr>
          <a:xfrm>
            <a:off x="6583680" y="411480"/>
            <a:ext cx="5257800" cy="5897880"/>
          </a:xfrm>
          <a:prstGeom prst="rect">
            <a:avLst/>
          </a:prstGeom>
        </p:spPr>
      </p:pic>
      <p:sp>
        <p:nvSpPr>
          <p:cNvPr id="4" name="Rectangle 3"/>
          <p:cNvSpPr/>
          <p:nvPr/>
        </p:nvSpPr>
        <p:spPr>
          <a:xfrm>
            <a:off x="5989320" y="411480"/>
            <a:ext cx="1280160"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008C95"/>
                </a:solidFill>
                <a:latin typeface="Arial"/>
              </a:rPr>
              <a:t>SECTION 99</a:t>
            </a:r>
          </a:p>
        </p:txBody>
      </p:sp>
      <p:sp>
        <p:nvSpPr>
          <p:cNvPr id="7" name="TextBox 6"/>
          <p:cNvSpPr txBox="1"/>
          <p:nvPr/>
        </p:nvSpPr>
        <p:spPr>
          <a:xfrm>
            <a:off x="658368" y="1325880"/>
            <a:ext cx="5486400" cy="1965960"/>
          </a:xfrm>
          <a:prstGeom prst="rect">
            <a:avLst/>
          </a:prstGeom>
          <a:noFill/>
        </p:spPr>
        <p:txBody>
          <a:bodyPr wrap="square" lIns="54864" rIns="54864" tIns="54864" bIns="54864" anchor="t">
            <a:spAutoFit/>
          </a:bodyPr>
          <a:lstStyle/>
          <a:p>
            <a:pPr algn="l"/>
            <a:r>
              <a:rPr sz="3400" b="1" i="0">
                <a:solidFill>
                  <a:srgbClr val="0E2A47"/>
                </a:solidFill>
                <a:latin typeface="Arial"/>
              </a:rPr>
              <a:t>Integration</a:t>
            </a:r>
          </a:p>
        </p:txBody>
      </p:sp>
      <p:sp>
        <p:nvSpPr>
          <p:cNvPr id="8" name="TextBox 7"/>
          <p:cNvSpPr txBox="1"/>
          <p:nvPr/>
        </p:nvSpPr>
        <p:spPr>
          <a:xfrm>
            <a:off x="685800" y="3675887"/>
            <a:ext cx="5166360" cy="960120"/>
          </a:xfrm>
          <a:prstGeom prst="rect">
            <a:avLst/>
          </a:prstGeom>
          <a:noFill/>
        </p:spPr>
        <p:txBody>
          <a:bodyPr wrap="square" lIns="54864" rIns="54864" tIns="54864" bIns="54864" anchor="t">
            <a:spAutoFit/>
          </a:bodyPr>
          <a:lstStyle/>
          <a:p>
            <a:pPr algn="l"/>
            <a:r>
              <a:rPr sz="1600" b="0" i="0">
                <a:solidFill>
                  <a:srgbClr val="5C6677"/>
                </a:solidFill>
                <a:latin typeface="Arial"/>
              </a:rPr>
              <a:t>From isolated controls to a production system</a:t>
            </a:r>
          </a:p>
        </p:txBody>
      </p:sp>
      <p:sp>
        <p:nvSpPr>
          <p:cNvPr id="9" name="TextBox 8"/>
          <p:cNvSpPr txBox="1"/>
          <p:nvPr/>
        </p:nvSpPr>
        <p:spPr>
          <a:xfrm>
            <a:off x="685800" y="5175504"/>
            <a:ext cx="5212080" cy="640080"/>
          </a:xfrm>
          <a:prstGeom prst="rect">
            <a:avLst/>
          </a:prstGeom>
          <a:noFill/>
        </p:spPr>
        <p:txBody>
          <a:bodyPr wrap="square" lIns="54864" rIns="54864" tIns="54864" bIns="54864" anchor="t">
            <a:spAutoFit/>
          </a:bodyPr>
          <a:lstStyle/>
          <a:p>
            <a:pPr algn="l"/>
            <a:r>
              <a:rPr sz="1400" b="1" i="1">
                <a:solidFill>
                  <a:srgbClr val="008C95"/>
                </a:solidFill>
                <a:latin typeface="Arial"/>
              </a:rPr>
              <a:t>Observe the image. State the intent. Make a controlled change. Verify the result.</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133</a:t>
            </a:r>
          </a:p>
        </p:txBody>
      </p:sp>
    </p:spTree>
  </p:cSld>
  <p:clrMapOvr>
    <a:masterClrMapping/>
  </p:clrMapOvr>
  <p:transition spd="slow">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ONE SYSTEM | MANY IMAGES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Lightroom Production System</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Brief + rights</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Ingest + organise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Global edit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Local refine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Review + deliver</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134</a:t>
            </a:r>
          </a:p>
        </p:txBody>
      </p:sp>
    </p:spTree>
  </p:cSld>
  <p:clrMapOvr>
    <a:masterClrMapping/>
  </p:clrMapOvr>
  <p:transition spd="slow">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COURSE SUMMARY</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What You Achieved</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EXPLORE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Translate stakeholder intent into testable image decisions.</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IMPROVE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Build non-destructive global and local editing techniques through deliberate practice.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EVALUATE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Judge Lightroom capabilities through design, technical, and authenticity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DELIVER</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Review, export, share, and archive with rights and privacy controls.</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135</a:t>
            </a:r>
          </a:p>
        </p:txBody>
      </p:sp>
    </p:spTree>
  </p:cSld>
  <p:clrMapOvr>
    <a:masterClrMapping/>
  </p:clrMapOvr>
  <p:transition spd="slow">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6F42C1"/>
                </a:solidFill>
                <a:latin typeface="Arial"/>
              </a:rPr>
              <a:t>FINAL EDITOR PRINCIPLE</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“A finished image is a visible decision trail.”</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When the brief, edit, evidence, rights, approval, and export agree, the work is ready to leave the studio.</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6F42C1"/>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136</a:t>
            </a:r>
          </a:p>
        </p:txBody>
      </p:sp>
    </p:spTree>
  </p:cSld>
  <p:clrMapOvr>
    <a:masterClrMapping/>
  </p:clrMapOvr>
  <p:transition spd="slow">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LEARNER PORTAL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Courseware and Assessment on the LMS</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Download the learner slides, Learner Guide and activity pack</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Complete the Oral Questioning and Practical Performance using approved materials</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Upload the required evidence to the LMS</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https://lms-tms.tertiaryinfotech.com/</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137</a:t>
            </a:r>
          </a:p>
        </p:txBody>
      </p:sp>
    </p:spTree>
  </p:cSld>
  <p:clrMapOvr>
    <a:masterClrMapping/>
  </p:clrMapOvr>
  <p:transition spd="slow">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FINAL REMINDER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OQ | 30 MIN</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Six open-ended knowledge questions K1-K6.</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PP | 60 MIN</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Three connected production tasks A1-A4.</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SUBMIT</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Assessment attendance, LMS evidence upload, and summary-record signature.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138</a:t>
            </a:r>
          </a:p>
        </p:txBody>
      </p:sp>
    </p:spTree>
  </p:cSld>
  <p:clrMapOvr>
    <a:masterClrMapping/>
  </p:clrMapOvr>
  <p:transition spd="slow">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FINAL ASSESSMENT PROCESS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Flow</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TRAQOM</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Assessment attendance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OQ then PP</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Submit on LMS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Sign summary record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139</a:t>
            </a:r>
          </a:p>
        </p:txBody>
      </p:sp>
    </p:spTree>
  </p:cSld>
  <p:clrMapOvr>
    <a:masterClrMapping/>
  </p:clrMapOvr>
  <p:transition spd="slow">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TRAQOM · SSG</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Attendance | Mandatory</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Morning attendance recorded.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PM</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Afternoon attendance recorded.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ASSESSMENT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Assessment attendance recorded separately.</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COMPLETE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Confirm submission with the trainer before leaving.</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140</a:t>
            </a:r>
          </a:p>
        </p:txBody>
      </p:sp>
    </p:spTree>
  </p:cSld>
  <p:clrMapOvr>
    <a:masterClrMapping/>
  </p:clrMapOvr>
  <p:transition spd="slow">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8720"/>
            <a:ext cx="10789920" cy="914400"/>
          </a:xfrm>
          <a:prstGeom prst="rect">
            <a:avLst/>
          </a:prstGeom>
          <a:noFill/>
        </p:spPr>
        <p:txBody>
          <a:bodyPr wrap="square" lIns="54864" rIns="54864" tIns="54864" bIns="54864" anchor="t">
            <a:spAutoFit/>
          </a:bodyPr>
          <a:lstStyle/>
          <a:p>
            <a:pPr algn="ctr"/>
            <a:r>
              <a:rPr sz="4800" b="1" i="0">
                <a:solidFill>
                  <a:srgbClr val="0E2A47"/>
                </a:solidFill>
                <a:latin typeface="Arial"/>
              </a:rPr>
              <a:t>Thank You</a:t>
            </a:r>
          </a:p>
        </p:txBody>
      </p:sp>
      <p:sp>
        <p:nvSpPr>
          <p:cNvPr id="5" name="TextBox 4"/>
          <p:cNvSpPr txBox="1"/>
          <p:nvPr/>
        </p:nvSpPr>
        <p:spPr>
          <a:xfrm>
            <a:off x="1097280" y="2423160"/>
            <a:ext cx="9966960" cy="1097280"/>
          </a:xfrm>
          <a:prstGeom prst="rect">
            <a:avLst/>
          </a:prstGeom>
          <a:noFill/>
        </p:spPr>
        <p:txBody>
          <a:bodyPr wrap="square" lIns="54864" rIns="54864" tIns="54864" bIns="54864" anchor="t">
            <a:spAutoFit/>
          </a:bodyPr>
          <a:lstStyle/>
          <a:p>
            <a:pPr algn="ctr"/>
            <a:r>
              <a:rPr sz="2500" b="1" i="0">
                <a:solidFill>
                  <a:srgbClr val="008C95"/>
                </a:solidFill>
                <a:latin typeface="Arial"/>
              </a:rPr>
              <a:t>Edit with intention. Check the evidence. Protect the original.</a:t>
            </a:r>
          </a:p>
        </p:txBody>
      </p:sp>
      <p:sp>
        <p:nvSpPr>
          <p:cNvPr id="6" name="TextBox 5"/>
          <p:cNvSpPr txBox="1"/>
          <p:nvPr/>
        </p:nvSpPr>
        <p:spPr>
          <a:xfrm>
            <a:off x="1097280" y="4160520"/>
            <a:ext cx="9966960" cy="685800"/>
          </a:xfrm>
          <a:prstGeom prst="rect">
            <a:avLst/>
          </a:prstGeom>
          <a:noFill/>
        </p:spPr>
        <p:txBody>
          <a:bodyPr wrap="square" lIns="54864" rIns="54864" tIns="54864" bIns="54864" anchor="t">
            <a:spAutoFit/>
          </a:bodyPr>
          <a:lstStyle/>
          <a:p>
            <a:pPr algn="ctr"/>
            <a:r>
              <a:rPr sz="1400" b="0" i="0">
                <a:solidFill>
                  <a:srgbClr val="5C6677"/>
                </a:solidFill>
                <a:latin typeface="Arial"/>
              </a:rPr>
              <a:t>enquiry@tertiaryinfotech.com | +65 6100 0613 | www.tertiarycourses.com.sg</a:t>
            </a:r>
          </a:p>
        </p:txBody>
      </p:sp>
      <p:sp>
        <p:nvSpPr>
          <p:cNvPr id="7" name="TextBox 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Adobe Lightroom for Photo Editing | TGS-2022015367 | © Tertiary Infotech Academy Pte Ltd</a:t>
            </a:r>
          </a:p>
        </p:txBody>
      </p:sp>
      <p:sp>
        <p:nvSpPr>
          <p:cNvPr id="8" name="TextBox 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141</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